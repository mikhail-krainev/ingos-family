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ecbd9b1d-a5f6-b74b-a5b6-d9b1e8920561}">
          <p14:sldIdLst>
            <p14:sldId id="256"/>
          </p14:sldIdLst>
        </p14:section>
        <p14:section name="Сегмент и проблема" id="{f7e73c10-71ee-836f-aeeb-889484f95998}">
          <p14:sldIdLst>
            <p14:sldId id="257"/>
            <p14:sldId id="258"/>
            <p14:sldId id="259"/>
          </p14:sldIdLst>
        </p14:section>
        <p14:section name="Рынок и решение" id="{8aa547a6-d48b-f454-dd92-8c131d7c998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Экономика" id="{98b843a6-ff05-75d6-42f7-affb71d49ff8}">
          <p14:sldIdLst>
            <p14:sldId id="268"/>
            <p14:sldId id="269"/>
            <p14:sldId id="270"/>
            <p14:sldId id="271"/>
          </p14:sldIdLst>
        </p14:section>
        <p14:section name="MVP и решение" id="{90e4cce6-76ea-bda5-f750-aef3b7d9885a}">
          <p14:sldIdLst>
            <p14:sldId id="272"/>
            <p14:sldId id="273"/>
            <p14:sldId id="274"/>
          </p14:sldIdLst>
        </p14:section>
        <p14:section name="Приложение" id="{d326a35d-3386-5737-19fc-dcb428e7b5e2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A628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5A6280"/>
                </a:solidFill>
                <a:latin typeface="Arial"/>
              </a:rPr>
              <a:t>Руб. на семью в месяц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Версия 1: живой звонок раз в неделю</c:v>
                </c:pt>
              </c:strCache>
            </c:strRef>
          </c:tx>
          <c:spPr>
            <a:solidFill>
              <a:srgbClr val="8FA3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5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Выручка без НДС</c:v>
                  </c:pt>
                  <c:pt idx="1">
                    <c:v>Координатор и накладные</c:v>
                  </c:pt>
                  <c:pt idx="2">
                    <c:v>Прочие переменные</c:v>
                  </c:pt>
                  <c:pt idx="3">
                    <c:v>Маржинальный доход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2021</c:v>
                </c:pt>
                <c:pt idx="1">
                  <c:v>2162</c:v>
                </c:pt>
                <c:pt idx="2">
                  <c:v>497</c:v>
                </c:pt>
                <c:pt idx="3">
                  <c:v>-515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Сейчас: робот каждый день + триаж</c:v>
                </c:pt>
              </c:strCache>
            </c:strRef>
          </c:tx>
          <c:spPr>
            <a:solidFill>
              <a:srgbClr val="1E3F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5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Выручка без НДС</c:v>
                  </c:pt>
                  <c:pt idx="1">
                    <c:v>Координатор и накладные</c:v>
                  </c:pt>
                  <c:pt idx="2">
                    <c:v>Прочие переменные</c:v>
                  </c:pt>
                  <c:pt idx="3">
                    <c:v>Маржинальный доход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2431</c:v>
                </c:pt>
                <c:pt idx="1">
                  <c:v>1265</c:v>
                </c:pt>
                <c:pt idx="2">
                  <c:v>426</c:v>
                </c:pt>
                <c:pt idx="3">
                  <c:v>862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5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51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</c:v>
                </c:pt>
              </c:strCache>
            </c:strRef>
          </c:tx>
          <c:spPr>
            <a:solidFill>
              <a:srgbClr val="1E3FD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5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Операции</c:v>
                  </c:pt>
                  <c:pt idx="1">
                    <c:v>Юридическая схема</c:v>
                  </c:pt>
                  <c:pt idx="2">
                    <c:v>Обучение</c:v>
                  </c:pt>
                  <c:pt idx="3">
                    <c:v>Накладные</c:v>
                  </c:pt>
                  <c:pt idx="4">
                    <c:v>Маркетинг и исследования</c:v>
                  </c:pt>
                  <c:pt idx="5">
                    <c:v>Резерв</c:v>
                  </c:pt>
                  <c:pt idx="6">
                    <c:v>Лицензии и ИТ</c:v>
                  </c:pt>
                  <c:pt idx="7">
                    <c:v>Команда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</c:v>
                </c:pt>
                <c:pt idx="1">
                  <c:v>0.2</c:v>
                </c:pt>
                <c:pt idx="2">
                  <c:v>0.24</c:v>
                </c:pt>
                <c:pt idx="3">
                  <c:v>0.26</c:v>
                </c:pt>
                <c:pt idx="4">
                  <c:v>0.33</c:v>
                </c:pt>
                <c:pt idx="5">
                  <c:v>0.44</c:v>
                </c:pt>
                <c:pt idx="6">
                  <c:v>0.67</c:v>
                </c:pt>
                <c:pt idx="7">
                  <c:v>2.63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5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51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2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4-1.png"/><Relationship Id="rId3" Type="http://schemas.openxmlformats.org/officeDocument/2006/relationships/image" Target="../media/image-14-2.png"/><Relationship Id="rId4" Type="http://schemas.openxmlformats.org/officeDocument/2006/relationships/image" Target="../media/image-14-3.png"/><Relationship Id="rId5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1417320" cy="237744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IngoSight 2026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2103120" y="5029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Отборочный этап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ИНГОССЕМЬЯ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 Ингосстраха организует медпомощь пожилому родителю, а взрослый ребенок в тот же день знает, что сделано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4937760" cy="0"/>
          </a:xfrm>
          <a:prstGeom prst="line">
            <a:avLst/>
          </a:prstGeom>
          <a:noFill/>
          <a:ln w="12700">
            <a:solidFill>
              <a:srgbClr val="1E3F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033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Направление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«Здоровье и благополучие»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69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Конкурс им. В. И. Щербакова, Ингосстрах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777240"/>
            <a:ext cx="3017520" cy="3017520"/>
          </a:xfrm>
          <a:prstGeom prst="ellipse">
            <a:avLst/>
          </a:prstGeom>
          <a:solidFill>
            <a:srgbClr val="1E3FD8">
              <a:alpha val="70000"/>
            </a:srgbClr>
          </a:solidFill>
          <a:ln/>
        </p:spPr>
      </p:sp>
      <p:pic>
        <p:nvPicPr>
          <p:cNvPr id="11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6954" y="274320"/>
            <a:ext cx="2399372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Покупает работающий взрослый ребенок, который организует медпомощь родителю издалека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Взрослые 35-60 лет, у которых родитель 70+ с хронической болезнью живет отдельно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EEF1FD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171907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6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1805940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17190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286000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 в чате, родитель по обычному телефону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1554480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EEF1FD"/>
          </a:solidFill>
          <a:ln/>
        </p:spPr>
      </p:sp>
      <p:sp>
        <p:nvSpPr>
          <p:cNvPr id="10" name="Shape 7"/>
          <p:cNvSpPr/>
          <p:nvPr/>
        </p:nvSpPr>
        <p:spPr>
          <a:xfrm>
            <a:off x="3364992" y="171907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1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180594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50208" y="17190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решает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364992" y="2286000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Взрослый ребенок, иногда с братьями и сестрами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999232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EEF1FD"/>
          </a:solidFill>
          <a:ln/>
        </p:spPr>
      </p:sp>
      <p:sp>
        <p:nvSpPr>
          <p:cNvPr id="15" name="Shape 11"/>
          <p:cNvSpPr/>
          <p:nvPr/>
        </p:nvSpPr>
        <p:spPr>
          <a:xfrm>
            <a:off x="621792" y="316382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6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32506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07008" y="31638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платит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" y="373075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 (B2C) или работодатель через ДМС (B2B2C)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200400" y="2999232"/>
            <a:ext cx="2560320" cy="1261872"/>
          </a:xfrm>
          <a:prstGeom prst="roundRect">
            <a:avLst>
              <a:gd name="adj" fmla="val 5797"/>
            </a:avLst>
          </a:prstGeom>
          <a:solidFill>
            <a:srgbClr val="EEF1FD"/>
          </a:solidFill>
          <a:ln/>
        </p:spPr>
      </p:sp>
      <p:sp>
        <p:nvSpPr>
          <p:cNvPr id="20" name="Shape 15"/>
          <p:cNvSpPr/>
          <p:nvPr/>
        </p:nvSpPr>
        <p:spPr>
          <a:xfrm>
            <a:off x="3364992" y="316382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1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1860" y="32506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950208" y="316382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Триггер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3364992" y="3730752"/>
            <a:ext cx="2231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Диагноз, госпитализация, первый упущенный эпизод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943600" y="1554480"/>
            <a:ext cx="2743200" cy="2706624"/>
          </a:xfrm>
          <a:prstGeom prst="roundRect">
            <a:avLst>
              <a:gd name="adj" fmla="val 2703"/>
            </a:avLst>
          </a:prstGeom>
          <a:solidFill>
            <a:srgbClr val="0A2A8A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6126480" y="1719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 (JTBD)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103120"/>
            <a:ext cx="237744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Когда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родителя что-то со здоровьем, </a:t>
            </a:r>
            <a:pPr indent="0" marL="0">
              <a:buNone/>
            </a:pPr>
            <a:r>
              <a:rPr lang="en-US" sz="13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быстро организовать помощь, не бросая работу, </a:t>
            </a:r>
            <a:pPr indent="0" marL="0">
              <a:buNone/>
            </a:pPr>
            <a:r>
              <a:rPr lang="en-US" sz="13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чтобы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узнать о проблеме слишком поздно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457200" y="4425696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28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" y="4495190"/>
            <a:ext cx="226771" cy="22677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" y="4425696"/>
            <a:ext cx="7726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Сейчас: </a:t>
            </a:r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звонки каждый день, Госуслуги за родителя, поездки «на всякий случай». Родитель скрывает симптомы, чтобы не беспокоить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Почти 9 из 10 нуждающихся в уходе остаются на семье: госсистема охватывает 11%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499616" cy="1920240"/>
          </a:xfrm>
          <a:prstGeom prst="roundRect">
            <a:avLst>
              <a:gd name="adj" fmla="val 4878"/>
            </a:avLst>
          </a:prstGeom>
          <a:solidFill>
            <a:srgbClr val="EEF1F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85216" y="1252728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25,8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87452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людей 65+ в России, 17,7% населения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5216" y="2770632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85216" y="27706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770632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39696" y="1143000"/>
            <a:ext cx="1499616" cy="1920240"/>
          </a:xfrm>
          <a:prstGeom prst="roundRect">
            <a:avLst>
              <a:gd name="adj" fmla="val 4878"/>
            </a:avLst>
          </a:prstGeom>
          <a:solidFill>
            <a:srgbClr val="EE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67712" y="1252728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267712" y="187452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россиян ухаживают за близким раз в неделю и чаще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67712" y="2770632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67712" y="27706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3182112" y="2770632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22192" y="1143000"/>
            <a:ext cx="1499616" cy="1920240"/>
          </a:xfrm>
          <a:prstGeom prst="roundRect">
            <a:avLst>
              <a:gd name="adj" fmla="val 4878"/>
            </a:avLst>
          </a:prstGeom>
          <a:solidFill>
            <a:srgbClr val="EEF1F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950208" y="1252728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950208" y="187452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старше трудоспособного возраста хронически болеют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950208" y="2770632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50208" y="27706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770632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504688" y="1143000"/>
            <a:ext cx="1499616" cy="1920240"/>
          </a:xfrm>
          <a:prstGeom prst="roundRect">
            <a:avLst>
              <a:gd name="adj" fmla="val 4878"/>
            </a:avLst>
          </a:prstGeom>
          <a:solidFill>
            <a:srgbClr val="0A2A8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32704" y="1252728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5632704" y="187452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нуждающихся вне системы долговременного ухода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32704" y="2770632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8FA3F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32704" y="277063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47104" y="2770632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187184" y="1143000"/>
            <a:ext cx="1499616" cy="1920240"/>
          </a:xfrm>
          <a:prstGeom prst="roundRect">
            <a:avLst>
              <a:gd name="adj" fmla="val 4878"/>
            </a:avLst>
          </a:prstGeom>
          <a:solidFill>
            <a:srgbClr val="EEF1F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0" y="1252728"/>
            <a:ext cx="1243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&gt;10%</a:t>
            </a:r>
            <a:endParaRPr lang="en-US" sz="28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0" y="187452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ухаживающих сократили работу или уволились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315200" y="2770632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0" y="277063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2770632"/>
            <a:ext cx="329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сходится с гипотезой и как мы это учли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35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169" y="3822009"/>
            <a:ext cx="238110" cy="238110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960120" y="3749040"/>
            <a:ext cx="211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Рынок не растет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4206240"/>
            <a:ext cx="262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Ухаживают 19% против 21% в 2021. Считаем по сегменту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261360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39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329" y="3822009"/>
            <a:ext cx="238110" cy="238110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3764280" y="3749040"/>
            <a:ext cx="211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данных по сегменту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3261360" y="4206240"/>
            <a:ext cx="262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Долю детей, живущих отдельно, берем 60% и проверяем анкетой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6065520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43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489" y="3822009"/>
            <a:ext cx="238110" cy="238110"/>
          </a:xfrm>
          <a:prstGeom prst="rect">
            <a:avLst/>
          </a:prstGeom>
        </p:spPr>
      </p:pic>
      <p:sp>
        <p:nvSpPr>
          <p:cNvPr id="44" name="Text 39"/>
          <p:cNvSpPr txBox="1"/>
          <p:nvPr/>
        </p:nvSpPr>
        <p:spPr>
          <a:xfrm>
            <a:off x="6568440" y="3749040"/>
            <a:ext cx="2118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Старые цифры убрали</a:t>
            </a:r>
            <a:endParaRPr lang="en-US" sz="1100" dirty="0"/>
          </a:p>
        </p:txBody>
      </p:sp>
      <p:sp>
        <p:nvSpPr>
          <p:cNvPr id="45" name="Text 40"/>
          <p:cNvSpPr txBox="1"/>
          <p:nvPr/>
        </p:nvSpPr>
        <p:spPr>
          <a:xfrm>
            <a:off x="6065520" y="4206240"/>
            <a:ext cx="262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НАФИ 2016 года о тратах на уход не используем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 и опрос покажут, проходит ли проблема порог H1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21280" cy="960120"/>
          </a:xfrm>
          <a:prstGeom prst="roundRect">
            <a:avLst>
              <a:gd name="adj" fmla="val 7619"/>
            </a:avLst>
          </a:prstGeom>
          <a:solidFill>
            <a:srgbClr val="EEF1FD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2893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761" y="1362273"/>
            <a:ext cx="238110" cy="238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1289304"/>
            <a:ext cx="179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1792" y="1783080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1828800" y="1783080"/>
            <a:ext cx="106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15+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61360" y="1143000"/>
            <a:ext cx="2621280" cy="960120"/>
          </a:xfrm>
          <a:prstGeom prst="roundRect">
            <a:avLst>
              <a:gd name="adj" fmla="val 7619"/>
            </a:avLst>
          </a:prstGeom>
          <a:solidFill>
            <a:srgbClr val="EEF1FD"/>
          </a:solidFill>
          <a:ln/>
        </p:spPr>
      </p:sp>
      <p:sp>
        <p:nvSpPr>
          <p:cNvPr id="10" name="Shape 7"/>
          <p:cNvSpPr/>
          <p:nvPr/>
        </p:nvSpPr>
        <p:spPr>
          <a:xfrm>
            <a:off x="3425952" y="12893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1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8921" y="1362273"/>
            <a:ext cx="238110" cy="23811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919728" y="1289304"/>
            <a:ext cx="179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Анкеты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425952" y="1783080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14" name="Text 10"/>
          <p:cNvSpPr txBox="1"/>
          <p:nvPr/>
        </p:nvSpPr>
        <p:spPr>
          <a:xfrm>
            <a:off x="4632960" y="1783080"/>
            <a:ext cx="106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150+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65520" y="1143000"/>
            <a:ext cx="2621280" cy="960120"/>
          </a:xfrm>
          <a:prstGeom prst="roundRect">
            <a:avLst>
              <a:gd name="adj" fmla="val 7619"/>
            </a:avLst>
          </a:prstGeom>
          <a:solidFill>
            <a:srgbClr val="0A2A8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248400" y="1271016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H1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6248400" y="1581912"/>
            <a:ext cx="225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 тратят 3+ часа в неделю и имели упущенный эпизод за полгода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57200" y="2286000"/>
            <a:ext cx="5029200" cy="2286000"/>
          </a:xfrm>
          <a:prstGeom prst="roundRect">
            <a:avLst>
              <a:gd name="adj" fmla="val 3200"/>
            </a:avLst>
          </a:prstGeom>
          <a:ln w="12700">
            <a:solidFill>
              <a:srgbClr val="D5DBF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4323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20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49" y="2505273"/>
            <a:ext cx="238110" cy="23811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133856" y="24323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Повторяющиеся паттерны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3703320" y="250545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3703320" y="250545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Заполняем 23-25.10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40080" y="2999232"/>
            <a:ext cx="4663440" cy="0"/>
          </a:xfrm>
          <a:prstGeom prst="line">
            <a:avLst/>
          </a:prstGeom>
          <a:noFill/>
          <a:ln w="9525">
            <a:solidFill>
              <a:srgbClr val="D5DBF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40080" y="3099816"/>
            <a:ext cx="292608" cy="292608"/>
          </a:xfrm>
          <a:prstGeom prst="ellipse">
            <a:avLst/>
          </a:prstGeom>
          <a:solidFill>
            <a:srgbClr val="1E3FD8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640080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1097280" y="3108960"/>
            <a:ext cx="27432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28" name="Text 23"/>
          <p:cNvSpPr txBox="1"/>
          <p:nvPr/>
        </p:nvSpPr>
        <p:spPr>
          <a:xfrm>
            <a:off x="1188720" y="31089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паттерн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3977640" y="3108960"/>
            <a:ext cx="132588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30" name="Text 25"/>
          <p:cNvSpPr txBox="1"/>
          <p:nvPr/>
        </p:nvSpPr>
        <p:spPr>
          <a:xfrm>
            <a:off x="4069080" y="31089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скольких из N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640080" y="3502152"/>
            <a:ext cx="4663440" cy="0"/>
          </a:xfrm>
          <a:prstGeom prst="line">
            <a:avLst/>
          </a:prstGeom>
          <a:noFill/>
          <a:ln w="9525">
            <a:solidFill>
              <a:srgbClr val="D5DBF5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40080" y="3602736"/>
            <a:ext cx="292608" cy="292608"/>
          </a:xfrm>
          <a:prstGeom prst="ellipse">
            <a:avLst/>
          </a:prstGeom>
          <a:solidFill>
            <a:srgbClr val="1E3FD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640080" y="3602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1097280" y="3611880"/>
            <a:ext cx="27432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35" name="Text 30"/>
          <p:cNvSpPr txBox="1"/>
          <p:nvPr/>
        </p:nvSpPr>
        <p:spPr>
          <a:xfrm>
            <a:off x="1188720" y="3611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паттерн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3977640" y="3611880"/>
            <a:ext cx="132588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06908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скольких из 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640080" y="4005072"/>
            <a:ext cx="4663440" cy="0"/>
          </a:xfrm>
          <a:prstGeom prst="line">
            <a:avLst/>
          </a:prstGeom>
          <a:noFill/>
          <a:ln w="9525">
            <a:solidFill>
              <a:srgbClr val="D5DBF5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640080" y="4105656"/>
            <a:ext cx="292608" cy="292608"/>
          </a:xfrm>
          <a:prstGeom prst="ellipse">
            <a:avLst/>
          </a:prstGeom>
          <a:solidFill>
            <a:srgbClr val="1E3FD8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640080" y="41056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1097280" y="4114800"/>
            <a:ext cx="274320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42" name="Text 37"/>
          <p:cNvSpPr txBox="1"/>
          <p:nvPr/>
        </p:nvSpPr>
        <p:spPr>
          <a:xfrm>
            <a:off x="11887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паттерн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3977640" y="4114800"/>
            <a:ext cx="132588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44" name="Text 39"/>
          <p:cNvSpPr txBox="1"/>
          <p:nvPr/>
        </p:nvSpPr>
        <p:spPr>
          <a:xfrm>
            <a:off x="4069080" y="4114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скольких из N</a:t>
            </a:r>
            <a:endParaRPr lang="en-US" sz="900" dirty="0"/>
          </a:p>
        </p:txBody>
      </p:sp>
      <p:sp>
        <p:nvSpPr>
          <p:cNvPr id="45" name="Shape 40"/>
          <p:cNvSpPr/>
          <p:nvPr/>
        </p:nvSpPr>
        <p:spPr>
          <a:xfrm>
            <a:off x="5669280" y="2286000"/>
            <a:ext cx="301752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46" name="Shape 41"/>
          <p:cNvSpPr/>
          <p:nvPr/>
        </p:nvSpPr>
        <p:spPr>
          <a:xfrm>
            <a:off x="5833872" y="24323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47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6841" y="2505273"/>
            <a:ext cx="238110" cy="23811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6327648" y="243230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Цитаты</a:t>
            </a:r>
            <a:endParaRPr lang="en-US" sz="1250" dirty="0"/>
          </a:p>
        </p:txBody>
      </p:sp>
      <p:sp>
        <p:nvSpPr>
          <p:cNvPr id="49" name="Shape 43"/>
          <p:cNvSpPr/>
          <p:nvPr/>
        </p:nvSpPr>
        <p:spPr>
          <a:xfrm>
            <a:off x="5833872" y="2926080"/>
            <a:ext cx="2688336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50" name="Text 44"/>
          <p:cNvSpPr txBox="1"/>
          <p:nvPr/>
        </p:nvSpPr>
        <p:spPr>
          <a:xfrm>
            <a:off x="5925312" y="2926080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цитата респондента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5669280" y="3520440"/>
            <a:ext cx="301752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52" name="Shape 46"/>
          <p:cNvSpPr/>
          <p:nvPr/>
        </p:nvSpPr>
        <p:spPr>
          <a:xfrm>
            <a:off x="5833872" y="366674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3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841" y="3739713"/>
            <a:ext cx="238110" cy="238110"/>
          </a:xfrm>
          <a:prstGeom prst="rect">
            <a:avLst/>
          </a:prstGeom>
        </p:spPr>
      </p:pic>
      <p:sp>
        <p:nvSpPr>
          <p:cNvPr id="54" name="Text 47"/>
          <p:cNvSpPr txBox="1"/>
          <p:nvPr/>
        </p:nvSpPr>
        <p:spPr>
          <a:xfrm>
            <a:off x="6327648" y="36667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против гипотезы</a:t>
            </a:r>
            <a:endParaRPr lang="en-US" sz="1250" dirty="0"/>
          </a:p>
        </p:txBody>
      </p:sp>
      <p:sp>
        <p:nvSpPr>
          <p:cNvPr id="55" name="Shape 48"/>
          <p:cNvSpPr/>
          <p:nvPr/>
        </p:nvSpPr>
        <p:spPr>
          <a:xfrm>
            <a:off x="5833872" y="4160520"/>
            <a:ext cx="2688336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8FA3F0"/>
            </a:solidFill>
            <a:prstDash val="dash"/>
          </a:ln>
        </p:spPr>
      </p:sp>
      <p:sp>
        <p:nvSpPr>
          <p:cNvPr id="56" name="Text 49"/>
          <p:cNvSpPr txBox="1"/>
          <p:nvPr/>
        </p:nvSpPr>
        <p:spPr>
          <a:xfrm>
            <a:off x="5925312" y="4160520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не подтвердилось и что меняем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«справляюсь сам» и сиделкой ничего нет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1252728"/>
            <a:ext cx="8229600" cy="0"/>
          </a:xfrm>
          <a:prstGeom prst="line">
            <a:avLst/>
          </a:prstGeom>
          <a:noFill/>
          <a:ln w="19050">
            <a:solidFill>
              <a:srgbClr val="8FA3F0"/>
            </a:solidFill>
            <a:prstDash val="solid"/>
            <a:tailEnd type="triangle"/>
          </a:ln>
        </p:spPr>
      </p:sp>
      <p:sp>
        <p:nvSpPr>
          <p:cNvPr id="4" name="Text 2"/>
          <p:cNvSpPr txBox="1"/>
          <p:nvPr/>
        </p:nvSpPr>
        <p:spPr>
          <a:xfrm>
            <a:off x="457200" y="10332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дешевле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7589520" y="10332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дороже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7" name="Shape 5"/>
          <p:cNvSpPr/>
          <p:nvPr/>
        </p:nvSpPr>
        <p:spPr>
          <a:xfrm>
            <a:off x="741970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8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262" y="1724924"/>
            <a:ext cx="317480" cy="317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3776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12064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руб.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12064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 ценой времени и отгулов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640080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держится на одном человеке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648533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15" name="Shape 12"/>
          <p:cNvSpPr/>
          <p:nvPr/>
        </p:nvSpPr>
        <p:spPr>
          <a:xfrm>
            <a:off x="1933303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6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595" y="1724924"/>
            <a:ext cx="317480" cy="31748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685109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Соседи и родные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1703397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подарки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1703397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ответные услуги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1831413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721685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регулярности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839865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23" name="Shape 19"/>
          <p:cNvSpPr/>
          <p:nvPr/>
        </p:nvSpPr>
        <p:spPr>
          <a:xfrm>
            <a:off x="3124635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4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928" y="1724924"/>
            <a:ext cx="317480" cy="317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2876441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Телемедицина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2894729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разово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2894729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консультация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3022745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2913017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Родитель не пользуется приложениями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4031198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31" name="Shape 26"/>
          <p:cNvSpPr/>
          <p:nvPr/>
        </p:nvSpPr>
        <p:spPr>
          <a:xfrm>
            <a:off x="4315968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32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3260" y="1724924"/>
            <a:ext cx="317480" cy="31748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4067774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Полис ухода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086062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8-25 тыс.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4086062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руб. в год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4214078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4104350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 только после страхового случая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222530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0A2A8A"/>
          </a:solidFill>
          <a:ln/>
        </p:spPr>
      </p:sp>
      <p:sp>
        <p:nvSpPr>
          <p:cNvPr id="39" name="Shape 33"/>
          <p:cNvSpPr/>
          <p:nvPr/>
        </p:nvSpPr>
        <p:spPr>
          <a:xfrm>
            <a:off x="5507301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B8F02A"/>
          </a:solidFill>
          <a:ln/>
        </p:spPr>
      </p:sp>
      <p:pic>
        <p:nvPicPr>
          <p:cNvPr id="40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4593" y="1724924"/>
            <a:ext cx="317480" cy="31748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5259106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ИНГОССЕМЬЯ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5277394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5277394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руб. в месяц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405410" y="3364992"/>
            <a:ext cx="715845" cy="0"/>
          </a:xfrm>
          <a:prstGeom prst="line">
            <a:avLst/>
          </a:prstGeom>
          <a:noFill/>
          <a:ln w="12700">
            <a:solidFill>
              <a:srgbClr val="1E3FD8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5295682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Организует помощь заранее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6413863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47" name="Shape 40"/>
          <p:cNvSpPr/>
          <p:nvPr/>
        </p:nvSpPr>
        <p:spPr>
          <a:xfrm>
            <a:off x="6698633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48" name="Image 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5925" y="1724924"/>
            <a:ext cx="317480" cy="31748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6450439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ДМС родителю</a:t>
            </a:r>
            <a:endParaRPr lang="en-US" sz="1050" dirty="0"/>
          </a:p>
        </p:txBody>
      </p:sp>
      <p:sp>
        <p:nvSpPr>
          <p:cNvPr id="50" name="Text 42"/>
          <p:cNvSpPr txBox="1"/>
          <p:nvPr/>
        </p:nvSpPr>
        <p:spPr>
          <a:xfrm>
            <a:off x="6468727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43-78 тыс.</a:t>
            </a:r>
            <a:endParaRPr lang="en-US" sz="1400" dirty="0"/>
          </a:p>
        </p:txBody>
      </p:sp>
      <p:sp>
        <p:nvSpPr>
          <p:cNvPr id="51" name="Text 43"/>
          <p:cNvSpPr txBox="1"/>
          <p:nvPr/>
        </p:nvSpPr>
        <p:spPr>
          <a:xfrm>
            <a:off x="6468727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руб. в год</a:t>
            </a:r>
            <a:endParaRPr lang="en-US" sz="850" dirty="0"/>
          </a:p>
        </p:txBody>
      </p:sp>
      <p:sp>
        <p:nvSpPr>
          <p:cNvPr id="52" name="Shape 44"/>
          <p:cNvSpPr/>
          <p:nvPr/>
        </p:nvSpPr>
        <p:spPr>
          <a:xfrm>
            <a:off x="6596743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6487015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Оплачивает лечение, но не организует его</a:t>
            </a:r>
            <a:endParaRPr lang="en-US" sz="900" dirty="0"/>
          </a:p>
        </p:txBody>
      </p:sp>
      <p:sp>
        <p:nvSpPr>
          <p:cNvPr id="54" name="Shape 46"/>
          <p:cNvSpPr/>
          <p:nvPr/>
        </p:nvSpPr>
        <p:spPr>
          <a:xfrm>
            <a:off x="7605195" y="1463040"/>
            <a:ext cx="1081605" cy="2468880"/>
          </a:xfrm>
          <a:prstGeom prst="roundRect">
            <a:avLst>
              <a:gd name="adj" fmla="val 6763"/>
            </a:avLst>
          </a:prstGeom>
          <a:solidFill>
            <a:srgbClr val="EEF1FD"/>
          </a:solidFill>
          <a:ln/>
        </p:spPr>
      </p:sp>
      <p:sp>
        <p:nvSpPr>
          <p:cNvPr id="55" name="Shape 47"/>
          <p:cNvSpPr/>
          <p:nvPr/>
        </p:nvSpPr>
        <p:spPr>
          <a:xfrm>
            <a:off x="7889966" y="1627632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6" name="Image 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7258" y="1724924"/>
            <a:ext cx="317480" cy="3174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7641771" y="2240280"/>
            <a:ext cx="10084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Сиделка</a:t>
            </a:r>
            <a:endParaRPr lang="en-US" sz="1050" dirty="0"/>
          </a:p>
        </p:txBody>
      </p:sp>
      <p:sp>
        <p:nvSpPr>
          <p:cNvPr id="58" name="Text 49"/>
          <p:cNvSpPr txBox="1"/>
          <p:nvPr/>
        </p:nvSpPr>
        <p:spPr>
          <a:xfrm>
            <a:off x="7660059" y="2651760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30-72 тыс.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7660059" y="2980944"/>
            <a:ext cx="97187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руб. в месяц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788075" y="3364992"/>
            <a:ext cx="715845" cy="0"/>
          </a:xfrm>
          <a:prstGeom prst="line">
            <a:avLst/>
          </a:prstGeom>
          <a:noFill/>
          <a:ln w="12700">
            <a:solidFill>
              <a:srgbClr val="D5DBF5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7678347" y="3456432"/>
            <a:ext cx="93530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Дорого и избыточно</a:t>
            </a:r>
            <a:endParaRPr lang="en-US" sz="900" dirty="0"/>
          </a:p>
        </p:txBody>
      </p:sp>
      <p:sp>
        <p:nvSpPr>
          <p:cNvPr id="62" name="Shape 53"/>
          <p:cNvSpPr/>
          <p:nvPr/>
        </p:nvSpPr>
        <p:spPr>
          <a:xfrm>
            <a:off x="457200" y="411480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B8F02A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12-29 раз дешевле сиделки. </a:t>
            </a:r>
            <a:pPr indent="0" marL="0">
              <a:buNone/>
            </a:pPr>
            <a:r>
              <a:rPr lang="en-US" sz="11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ИНГОССЕМЬЯ организует помощь до страхового случая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Чтобы выйти на 10,7 тыс. семей, нужно 0,52% целевого рынка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3291840" cy="3291840"/>
          </a:xfrm>
          <a:prstGeom prst="ellipse">
            <a:avLst/>
          </a:prstGeom>
          <a:solidFill>
            <a:srgbClr val="EEF1FD"/>
          </a:solidFill>
          <a:ln w="12700">
            <a:solidFill>
              <a:srgbClr val="D5DB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03020" y="2286000"/>
            <a:ext cx="2148840" cy="2148840"/>
          </a:xfrm>
          <a:prstGeom prst="ellipse">
            <a:avLst/>
          </a:prstGeom>
          <a:solidFill>
            <a:srgbClr val="8FA3F0"/>
          </a:solidFill>
          <a:ln/>
        </p:spPr>
      </p:sp>
      <p:sp>
        <p:nvSpPr>
          <p:cNvPr id="5" name="Shape 3"/>
          <p:cNvSpPr/>
          <p:nvPr/>
        </p:nvSpPr>
        <p:spPr>
          <a:xfrm>
            <a:off x="1874520" y="3429000"/>
            <a:ext cx="1005840" cy="1005840"/>
          </a:xfrm>
          <a:prstGeom prst="ellipse">
            <a:avLst/>
          </a:prstGeom>
          <a:solidFill>
            <a:srgbClr val="0A2A8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57403" y="1490472"/>
            <a:ext cx="18400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</a:t>
            </a:r>
            <a:pPr algn="ct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5,85 млн семей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210325" y="1737360"/>
            <a:ext cx="233422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208,2 млрд руб. в год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589438" y="2743200"/>
            <a:ext cx="15760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</a:t>
            </a:r>
            <a:pPr algn="ct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2,05 млн семей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463705" y="2990088"/>
            <a:ext cx="18274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72,9 млрд руб. в год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364845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388620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10 654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9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SOM: семей через 60 месяцев в базовом сценарии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143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считали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15087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 65+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41464" y="15087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25,8 млн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10144" y="1563624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10144" y="156362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4828032" y="183794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с хроническим заболеванием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41464" y="183794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10144" y="1892808"/>
            <a:ext cx="384048" cy="182880"/>
          </a:xfrm>
          <a:prstGeom prst="roundRect">
            <a:avLst>
              <a:gd name="adj" fmla="val 50000"/>
            </a:avLst>
          </a:prstGeom>
          <a:solidFill>
            <a:srgbClr val="0A2A8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10144" y="18928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828032" y="21671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живут отдельно от детей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41464" y="216712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10144" y="2221992"/>
            <a:ext cx="676656" cy="182880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10144" y="2221992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допущение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49631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ребенок работает и координирует сам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41464" y="249631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10144" y="2551176"/>
            <a:ext cx="676656" cy="182880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10144" y="2551176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допущение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754880" y="2825496"/>
            <a:ext cx="3931920" cy="292608"/>
          </a:xfrm>
          <a:prstGeom prst="rect">
            <a:avLst/>
          </a:prstGeom>
          <a:solidFill>
            <a:srgbClr val="EEF1F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28032" y="282549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TAM, семей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141464" y="282549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5,85 млн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010144" y="2880360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8FA3F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10144" y="288036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828032" y="31546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города 250 тыс.+, доход позволяет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141464" y="31546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8010144" y="3209544"/>
            <a:ext cx="676656" cy="182880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010144" y="3209544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допущение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754880" y="3483864"/>
            <a:ext cx="3931920" cy="292608"/>
          </a:xfrm>
          <a:prstGeom prst="rect">
            <a:avLst/>
          </a:prstGeom>
          <a:solidFill>
            <a:srgbClr val="EEF1FD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28032" y="34838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SAM, семей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141464" y="348386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2,05 млн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10144" y="3538728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8FA3F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10144" y="353872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4828032" y="38130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чек 2 965 руб. с льготами x 12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141464" y="3813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72,9 млрд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010144" y="3867912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8FA3F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010144" y="386791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4754880" y="4251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доли пока допущения, поэтому это порядок величины. Даже при 40% вместо 60% TAM 3,9 млн семей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 платит 2 490 руб. в месяц и узнает о проблеме родителя в тот же день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708" y="1097280"/>
            <a:ext cx="1829224" cy="3520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06252" y="1143000"/>
            <a:ext cx="1097280" cy="576072"/>
          </a:xfrm>
          <a:prstGeom prst="roundRect">
            <a:avLst>
              <a:gd name="adj" fmla="val 12698"/>
            </a:avLst>
          </a:prstGeom>
          <a:solidFill>
            <a:srgbClr val="0A2A8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2606252" y="1143000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813260" y="1143000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работающих детей, чей пожилой родитель живет отдельно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2606252" y="1856232"/>
            <a:ext cx="1097280" cy="576072"/>
          </a:xfrm>
          <a:prstGeom prst="roundRect">
            <a:avLst>
              <a:gd name="adj" fmla="val 12698"/>
            </a:avLst>
          </a:prstGeom>
          <a:solidFill>
            <a:srgbClr val="1E3FD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06252" y="1856232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ИНГОССЕМЬЯ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813260" y="1856232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организует медпомощь родителю и сообщает о каждом шаге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06252" y="2569464"/>
            <a:ext cx="1097280" cy="576072"/>
          </a:xfrm>
          <a:prstGeom prst="roundRect">
            <a:avLst>
              <a:gd name="adj" fmla="val 12698"/>
            </a:avLst>
          </a:prstGeom>
          <a:solidFill>
            <a:srgbClr val="0A2A8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252" y="2569464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Благодаря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813260" y="2569464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координаторам и врачам Ингосстраха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606252" y="3282696"/>
            <a:ext cx="1097280" cy="576072"/>
          </a:xfrm>
          <a:prstGeom prst="roundRect">
            <a:avLst>
              <a:gd name="adj" fmla="val 12698"/>
            </a:avLst>
          </a:prstGeom>
          <a:solidFill>
            <a:srgbClr val="0A2A8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606252" y="3282696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813260" y="3282696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звонков «на нервах» и сиделки за 30-72 тыс. руб.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06252" y="3995928"/>
            <a:ext cx="1097280" cy="576072"/>
          </a:xfrm>
          <a:prstGeom prst="roundRect">
            <a:avLst>
              <a:gd name="adj" fmla="val 12698"/>
            </a:avLst>
          </a:prstGeom>
          <a:solidFill>
            <a:srgbClr val="0A2A8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606252" y="3995928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13260" y="3995928"/>
            <a:ext cx="208483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тратит меньше времени и узнает о проблемах вовремя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172412" y="1143000"/>
            <a:ext cx="2514388" cy="899160"/>
          </a:xfrm>
          <a:prstGeom prst="roundRect">
            <a:avLst>
              <a:gd name="adj" fmla="val 8136"/>
            </a:avLst>
          </a:prstGeom>
          <a:solidFill>
            <a:srgbClr val="EEF1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309572" y="13639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1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440" y="1450848"/>
            <a:ext cx="283464" cy="28346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885644" y="1234440"/>
            <a:ext cx="1709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12-29 раз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6885644" y="1600200"/>
            <a:ext cx="1709716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дешевле сиделки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172412" y="2225040"/>
            <a:ext cx="2514388" cy="899160"/>
          </a:xfrm>
          <a:prstGeom prst="roundRect">
            <a:avLst>
              <a:gd name="adj" fmla="val 8136"/>
            </a:avLst>
          </a:prstGeom>
          <a:solidFill>
            <a:srgbClr val="EEF1FD"/>
          </a:solidFill>
          <a:ln/>
        </p:spPr>
      </p:sp>
      <p:sp>
        <p:nvSpPr>
          <p:cNvPr id="25" name="Shape 21"/>
          <p:cNvSpPr/>
          <p:nvPr/>
        </p:nvSpPr>
        <p:spPr>
          <a:xfrm>
            <a:off x="6309572" y="24460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6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6440" y="2532888"/>
            <a:ext cx="283464" cy="28346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885644" y="2316480"/>
            <a:ext cx="1709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тот же день</a:t>
            </a:r>
            <a:endParaRPr lang="en-US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6885644" y="2682240"/>
            <a:ext cx="1709716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узнает о пропуске лекарства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6172412" y="3307080"/>
            <a:ext cx="2514388" cy="899160"/>
          </a:xfrm>
          <a:prstGeom prst="roundRect">
            <a:avLst>
              <a:gd name="adj" fmla="val 8136"/>
            </a:avLst>
          </a:prstGeom>
          <a:solidFill>
            <a:srgbClr val="EEF1FD"/>
          </a:solidFill>
          <a:ln/>
        </p:spPr>
      </p:sp>
      <p:sp>
        <p:nvSpPr>
          <p:cNvPr id="30" name="Shape 25"/>
          <p:cNvSpPr/>
          <p:nvPr/>
        </p:nvSpPr>
        <p:spPr>
          <a:xfrm>
            <a:off x="6309572" y="352806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31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6440" y="3614928"/>
            <a:ext cx="283464" cy="283464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885644" y="3398520"/>
            <a:ext cx="1709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номер</a:t>
            </a:r>
            <a:endParaRPr lang="en-US" sz="1700" dirty="0"/>
          </a:p>
        </p:txBody>
      </p:sp>
      <p:sp>
        <p:nvSpPr>
          <p:cNvPr id="33" name="Text 27"/>
          <p:cNvSpPr txBox="1"/>
          <p:nvPr/>
        </p:nvSpPr>
        <p:spPr>
          <a:xfrm>
            <a:off x="6885644" y="3764280"/>
            <a:ext cx="1709716" cy="36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вместо регистратуры и аптеки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172412" y="4297680"/>
            <a:ext cx="25143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Родитель сам решает, что видит ребенок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Сценарий из 7 шагов опирается на системы, которые у Ингосстраха уже работают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694" y="1051560"/>
            <a:ext cx="7718612" cy="3520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 видит ленту событий в мини-приложении MAX и в личном кабинете на компьютере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818" y="1143000"/>
            <a:ext cx="4531643" cy="3108960"/>
          </a:xfrm>
          <a:prstGeom prst="rect">
            <a:avLst/>
          </a:prstGeom>
        </p:spPr>
      </p:pic>
      <p:pic>
        <p:nvPicPr>
          <p:cNvPr id="4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347" y="1143000"/>
            <a:ext cx="1615419" cy="3108960"/>
          </a:xfrm>
          <a:prstGeom prst="rect">
            <a:avLst/>
          </a:prstGeom>
        </p:spPr>
      </p:pic>
      <p:pic>
        <p:nvPicPr>
          <p:cNvPr id="5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656" y="1143000"/>
            <a:ext cx="1615419" cy="31089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77378" y="4297680"/>
            <a:ext cx="47145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кабинет на компьютере</a:t>
            </a:r>
            <a:endParaRPr lang="en-US" sz="1000" dirty="0"/>
          </a:p>
        </p:txBody>
      </p:sp>
      <p:sp>
        <p:nvSpPr>
          <p:cNvPr id="7" name="Text 2"/>
          <p:cNvSpPr txBox="1"/>
          <p:nvPr/>
        </p:nvSpPr>
        <p:spPr>
          <a:xfrm>
            <a:off x="5177907" y="4297680"/>
            <a:ext cx="17982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Лента событий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6948216" y="4297680"/>
            <a:ext cx="17982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Месячная сводка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 ведет 128 семьи в одном окне: очередь, скрипт звонка и отчет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613" y="1143000"/>
            <a:ext cx="498981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86747" y="1143000"/>
            <a:ext cx="290005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семьи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86747" y="1673352"/>
            <a:ext cx="29000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координатора на Базовом тарифе, 48,3 мин на семью в месяц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786747" y="2130552"/>
            <a:ext cx="475488" cy="182880"/>
          </a:xfrm>
          <a:prstGeom prst="roundRect">
            <a:avLst>
              <a:gd name="adj" fmla="val 50000"/>
            </a:avLst>
          </a:prstGeom>
          <a:solidFill>
            <a:srgbClr val="8FA3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786747" y="2130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расчет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86747" y="25146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9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615" y="260146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381107" y="2514600"/>
            <a:ext cx="23056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по срочности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6381107" y="2770632"/>
            <a:ext cx="2305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красные флаги робота сверху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5786747" y="329184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3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3615" y="3378708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81107" y="3291840"/>
            <a:ext cx="23056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Скрипт звонка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6381107" y="3547872"/>
            <a:ext cx="2305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пунктов, врач по кнопке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786747" y="40690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7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3615" y="4155948"/>
            <a:ext cx="283464" cy="28346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381107" y="4069080"/>
            <a:ext cx="230569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Отчет ребенку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6381107" y="4325112"/>
            <a:ext cx="2305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собирается сам, отправка в 1 клик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Почти все блоки сервиса у Ингосстраха уже есть: стартап не соберет их за 3 месяца и 5 млн руб.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385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508" y="1493032"/>
            <a:ext cx="351495" cy="351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30759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Медицинский контакт-центр ДМС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72821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уже записывает к врачам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61360" y="114300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9" name="Shape 6"/>
          <p:cNvSpPr/>
          <p:nvPr/>
        </p:nvSpPr>
        <p:spPr>
          <a:xfrm>
            <a:off x="3425952" y="1385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0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668" y="1493032"/>
            <a:ext cx="351495" cy="3514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130040" y="130759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Клиники ДМС, ЛМС, «Будь здоров»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130040" y="172821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прием, анализы, медсестра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065520" y="114300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14" name="Shape 10"/>
          <p:cNvSpPr/>
          <p:nvPr/>
        </p:nvSpPr>
        <p:spPr>
          <a:xfrm>
            <a:off x="6230112" y="1385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5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828" y="1493032"/>
            <a:ext cx="351495" cy="3514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34200" y="130759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Телемедицина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6934200" y="172821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медицинскую оценку дает врач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57200" y="237744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19" name="Shape 14"/>
          <p:cNvSpPr/>
          <p:nvPr/>
        </p:nvSpPr>
        <p:spPr>
          <a:xfrm>
            <a:off x="621792" y="261975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0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508" y="2727472"/>
            <a:ext cx="351495" cy="3514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25880" y="254203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МедРокет и IngoRead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325880" y="296265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клиник и разбор выписок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3261360" y="237744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24" name="Shape 18"/>
          <p:cNvSpPr/>
          <p:nvPr/>
        </p:nvSpPr>
        <p:spPr>
          <a:xfrm>
            <a:off x="3425952" y="261975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5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3668" y="2727472"/>
            <a:ext cx="351495" cy="35149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130040" y="254203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Роботизация контакт-центра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4130040" y="296265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 ежедневного звонка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6065520" y="2377440"/>
            <a:ext cx="2621280" cy="1051560"/>
          </a:xfrm>
          <a:prstGeom prst="roundRect">
            <a:avLst>
              <a:gd name="adj" fmla="val 6957"/>
            </a:avLst>
          </a:prstGeom>
          <a:solidFill>
            <a:srgbClr val="EEF1FD"/>
          </a:solidFill>
          <a:ln/>
        </p:spPr>
      </p:sp>
      <p:sp>
        <p:nvSpPr>
          <p:cNvPr id="29" name="Shape 22"/>
          <p:cNvSpPr/>
          <p:nvPr/>
        </p:nvSpPr>
        <p:spPr>
          <a:xfrm>
            <a:off x="6230112" y="261975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30" name="Image 5" descr="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7828" y="2727472"/>
            <a:ext cx="351495" cy="35149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34200" y="2542032"/>
            <a:ext cx="161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B2B2C и доверие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934200" y="2962656"/>
            <a:ext cx="161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 ДМС, ruAAA, с 1947 года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0A2A8A"/>
          </a:solidFill>
          <a:ln/>
        </p:spPr>
      </p:sp>
      <p:sp>
        <p:nvSpPr>
          <p:cNvPr id="34" name="Shape 26"/>
          <p:cNvSpPr/>
          <p:nvPr/>
        </p:nvSpPr>
        <p:spPr>
          <a:xfrm>
            <a:off x="640080" y="386334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E3FD8"/>
          </a:solidFill>
          <a:ln/>
        </p:spPr>
      </p:sp>
      <p:pic>
        <p:nvPicPr>
          <p:cNvPr id="35" name="Image 6" descr="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" y="3950208"/>
            <a:ext cx="283464" cy="28346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234440" y="3611880"/>
            <a:ext cx="7269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Честное ограничение.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IngoMobile нет в Google Play и App Store, а иностранные мессенджеры для финорганизаций запрещены (41-ФЗ). Поэтому MVP идет через MAX, СМС и звонки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Особые условия для ветеранов СВО и ветеранов: льготы, навигатор и партнерство с фондом «Защитники Отечества»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708" y="1097280"/>
            <a:ext cx="1829224" cy="3520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06252" y="1143000"/>
            <a:ext cx="1623060" cy="777240"/>
          </a:xfrm>
          <a:prstGeom prst="roundRect">
            <a:avLst>
              <a:gd name="adj" fmla="val 9412"/>
            </a:avLst>
          </a:prstGeom>
          <a:solidFill>
            <a:srgbClr val="0A2A8A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2734268" y="1216152"/>
            <a:ext cx="136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Бесплатно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2734268" y="1563624"/>
            <a:ext cx="1367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Родители погибших участников СВО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366472" y="1143000"/>
            <a:ext cx="162306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494488" y="1216152"/>
            <a:ext cx="136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-50%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494488" y="1563624"/>
            <a:ext cx="1367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Участники СВО на службе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606252" y="2057400"/>
            <a:ext cx="162306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34268" y="2130552"/>
            <a:ext cx="136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-30%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734268" y="2478024"/>
            <a:ext cx="1367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Ветераны боевых действий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366472" y="2057400"/>
            <a:ext cx="162306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494488" y="2130552"/>
            <a:ext cx="1367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-10%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494488" y="2478024"/>
            <a:ext cx="13670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Родитель ветеран ВОВ или труда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2606252" y="2971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только скидка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606252" y="329184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8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272" y="3357860"/>
            <a:ext cx="215433" cy="21543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063452" y="32918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Навигатор льгот: внеочередная помощь, лекарства, санаторий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2606252" y="370332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21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2272" y="3769340"/>
            <a:ext cx="215433" cy="21543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063452" y="370332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Отдельная линия координаторов и психолог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2606252" y="4114800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24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272" y="4180820"/>
            <a:ext cx="215433" cy="21543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3063452" y="4114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по удостоверению, копии не храним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6218132" y="1143000"/>
            <a:ext cx="2468668" cy="3429000"/>
          </a:xfrm>
          <a:prstGeom prst="roundRect">
            <a:avLst>
              <a:gd name="adj" fmla="val 2963"/>
            </a:avLst>
          </a:prstGeom>
          <a:solidFill>
            <a:srgbClr val="0A2A8A"/>
          </a:solidFill>
          <a:ln/>
        </p:spPr>
      </p:sp>
      <p:sp>
        <p:nvSpPr>
          <p:cNvPr id="27" name="Shape 21"/>
          <p:cNvSpPr/>
          <p:nvPr/>
        </p:nvSpPr>
        <p:spPr>
          <a:xfrm>
            <a:off x="6382724" y="1307592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E3FD8"/>
          </a:solidFill>
          <a:ln/>
        </p:spPr>
      </p:sp>
      <p:pic>
        <p:nvPicPr>
          <p:cNvPr id="28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9592" y="1394460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949652" y="1271016"/>
            <a:ext cx="15999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Фонд «Защитники Отечества»: партнер, а не конкурент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6382724" y="1965960"/>
            <a:ext cx="21394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4 500+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6382724" y="2313432"/>
            <a:ext cx="21394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координаторов фонда</a:t>
            </a:r>
            <a:endParaRPr lang="en-US" sz="850" dirty="0"/>
          </a:p>
        </p:txBody>
      </p:sp>
      <p:sp>
        <p:nvSpPr>
          <p:cNvPr id="32" name="Text 25"/>
          <p:cNvSpPr txBox="1"/>
          <p:nvPr/>
        </p:nvSpPr>
        <p:spPr>
          <a:xfrm>
            <a:off x="6382724" y="2834640"/>
            <a:ext cx="21394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4,8%</a:t>
            </a:r>
            <a:endParaRPr lang="en-US" sz="1800" dirty="0"/>
          </a:p>
        </p:txBody>
      </p:sp>
      <p:sp>
        <p:nvSpPr>
          <p:cNvPr id="33" name="Text 26"/>
          <p:cNvSpPr txBox="1"/>
          <p:nvPr/>
        </p:nvSpPr>
        <p:spPr>
          <a:xfrm>
            <a:off x="6382724" y="3182112"/>
            <a:ext cx="21394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скидка, 46,8 млн руб. за 60 мес уже в модели</a:t>
            </a:r>
            <a:endParaRPr lang="en-US" sz="850" dirty="0"/>
          </a:p>
        </p:txBody>
      </p:sp>
      <p:sp>
        <p:nvSpPr>
          <p:cNvPr id="34" name="Text 27"/>
          <p:cNvSpPr txBox="1"/>
          <p:nvPr/>
        </p:nvSpPr>
        <p:spPr>
          <a:xfrm>
            <a:off x="6382724" y="3703320"/>
            <a:ext cx="21394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семей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6382724" y="4050792"/>
            <a:ext cx="21394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месяц через фонд с 6-го месяца, проверяем H6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приходят из подписки, опции к ДМС и комиссий, а экономику решают три параметра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4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4916" y="1250716"/>
            <a:ext cx="351495" cy="35149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15568" y="1161288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Платит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1115568" y="141732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ребенок или работодатель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295144" y="1426464"/>
            <a:ext cx="256032" cy="0"/>
          </a:xfrm>
          <a:prstGeom prst="line">
            <a:avLst/>
          </a:prstGeom>
          <a:noFill/>
          <a:ln w="19050">
            <a:solidFill>
              <a:srgbClr val="8FA3F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606040" y="1143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9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756" y="1250716"/>
            <a:ext cx="351495" cy="35149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64408" y="1161288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Продает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264408" y="141732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сервисная компания группы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443984" y="1426464"/>
            <a:ext cx="256032" cy="0"/>
          </a:xfrm>
          <a:prstGeom prst="line">
            <a:avLst/>
          </a:prstGeom>
          <a:noFill/>
          <a:ln w="19050">
            <a:solidFill>
              <a:srgbClr val="8FA3F0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754880" y="1143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4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596" y="1250716"/>
            <a:ext cx="351495" cy="35149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13248" y="1161288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Делает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413248" y="141732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координатор, робот, врачи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6592824" y="1426464"/>
            <a:ext cx="256032" cy="0"/>
          </a:xfrm>
          <a:prstGeom prst="line">
            <a:avLst/>
          </a:prstGeom>
          <a:noFill/>
          <a:ln w="19050">
            <a:solidFill>
              <a:srgbClr val="8FA3F0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6903720" y="1143000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B8F02A"/>
          </a:solidFill>
          <a:ln/>
        </p:spPr>
      </p:sp>
      <p:pic>
        <p:nvPicPr>
          <p:cNvPr id="19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1436" y="1250716"/>
            <a:ext cx="351495" cy="35149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562088" y="1161288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Получает</a:t>
            </a:r>
            <a:endParaRPr lang="en-US" sz="1100" dirty="0"/>
          </a:p>
        </p:txBody>
      </p:sp>
      <p:sp>
        <p:nvSpPr>
          <p:cNvPr id="21" name="Text 15"/>
          <p:cNvSpPr txBox="1"/>
          <p:nvPr/>
        </p:nvSpPr>
        <p:spPr>
          <a:xfrm>
            <a:off x="7562088" y="1417320"/>
            <a:ext cx="1124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родитель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457200" y="19842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дохода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1920240" y="2020824"/>
            <a:ext cx="676656" cy="182880"/>
          </a:xfrm>
          <a:prstGeom prst="roundRect">
            <a:avLst>
              <a:gd name="adj" fmla="val 50000"/>
            </a:avLst>
          </a:prstGeom>
          <a:solidFill>
            <a:srgbClr val="B8F02A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1920240" y="2020824"/>
            <a:ext cx="676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допущение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457200" y="23317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85216" y="2404872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руб./мес</a:t>
            </a:r>
            <a:endParaRPr lang="en-US" sz="1500" dirty="0"/>
          </a:p>
        </p:txBody>
      </p:sp>
      <p:sp>
        <p:nvSpPr>
          <p:cNvPr id="27" name="Text 21"/>
          <p:cNvSpPr txBox="1"/>
          <p:nvPr/>
        </p:nvSpPr>
        <p:spPr>
          <a:xfrm>
            <a:off x="585216" y="277063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тариф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2560320" y="23317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2688336" y="2404872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4 990 руб./мес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2688336" y="277063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Расширенный тариф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4663440" y="23317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4791456" y="2404872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1 990 руб./мес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4791456" y="277063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опция к корпоративному ДМС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6766560" y="233172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EEF1FD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894576" y="2404872"/>
            <a:ext cx="1664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894576" y="2770632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комиссия с услуг партнеров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457200" y="33649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ключевых параметра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3675888"/>
            <a:ext cx="2621280" cy="896112"/>
          </a:xfrm>
          <a:prstGeom prst="roundRect">
            <a:avLst>
              <a:gd name="adj" fmla="val 8163"/>
            </a:avLst>
          </a:prstGeom>
          <a:solidFill>
            <a:srgbClr val="0A2A8A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603504" y="3675888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семьи</a:t>
            </a:r>
            <a:endParaRPr lang="en-US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2011680" y="3675888"/>
            <a:ext cx="92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координатора (48,3 мин на семью)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3261360" y="3675888"/>
            <a:ext cx="2621280" cy="896112"/>
          </a:xfrm>
          <a:prstGeom prst="roundRect">
            <a:avLst>
              <a:gd name="adj" fmla="val 8163"/>
            </a:avLst>
          </a:prstGeom>
          <a:solidFill>
            <a:srgbClr val="0A2A8A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3407664" y="3675888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3 896 руб.</a:t>
            </a:r>
            <a:endParaRPr lang="en-US" sz="1600" dirty="0"/>
          </a:p>
        </p:txBody>
      </p:sp>
      <p:sp>
        <p:nvSpPr>
          <p:cNvPr id="43" name="Text 37"/>
          <p:cNvSpPr txBox="1"/>
          <p:nvPr/>
        </p:nvSpPr>
        <p:spPr>
          <a:xfrm>
            <a:off x="4815840" y="3675888"/>
            <a:ext cx="92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в смеси каналов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6065520" y="3675888"/>
            <a:ext cx="2621280" cy="896112"/>
          </a:xfrm>
          <a:prstGeom prst="roundRect">
            <a:avLst>
              <a:gd name="adj" fmla="val 8163"/>
            </a:avLst>
          </a:prstGeom>
          <a:solidFill>
            <a:srgbClr val="0A2A8A"/>
          </a:solidFill>
          <a:ln/>
        </p:spPr>
      </p:sp>
      <p:sp>
        <p:nvSpPr>
          <p:cNvPr id="45" name="Text 39"/>
          <p:cNvSpPr txBox="1"/>
          <p:nvPr/>
        </p:nvSpPr>
        <p:spPr>
          <a:xfrm>
            <a:off x="6211824" y="3675888"/>
            <a:ext cx="1417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и 6%</a:t>
            </a:r>
            <a:endParaRPr lang="en-US" sz="1600" dirty="0"/>
          </a:p>
        </p:txBody>
      </p:sp>
      <p:sp>
        <p:nvSpPr>
          <p:cNvPr id="46" name="Text 40"/>
          <p:cNvSpPr txBox="1"/>
          <p:nvPr/>
        </p:nvSpPr>
        <p:spPr>
          <a:xfrm>
            <a:off x="7620000" y="3675888"/>
            <a:ext cx="929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отток в 1-й месяц и дальше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Робот-триаж перевернул юнит-экономику: с минус 515 до плюс 862 руб. с семьи в месяц</a:t>
            </a:r>
            <a:endParaRPr lang="en-US" sz="21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891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Маржинальный доход = выручка без НДС с учетом льгот ветеранам + комиссия партнеров - затраты</a:t>
            </a:r>
            <a:endParaRPr lang="en-US" sz="750" dirty="0"/>
          </a:p>
        </p:txBody>
      </p:sp>
      <p:sp>
        <p:nvSpPr>
          <p:cNvPr id="5" name="Text 2"/>
          <p:cNvSpPr txBox="1"/>
          <p:nvPr/>
        </p:nvSpPr>
        <p:spPr>
          <a:xfrm>
            <a:off x="5577840" y="1143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поменяли в продукте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577840" y="1508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7" name="Image 0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809" y="1581729"/>
            <a:ext cx="238110" cy="2381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80760" y="15087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Триаж: </a:t>
            </a:r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 каждый день, человек по флагу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5577840" y="20391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0" name="Image 1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809" y="2112081"/>
            <a:ext cx="238110" cy="2381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80760" y="203911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Регион: </a:t>
            </a:r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контакт-центр, зарплата 70 тыс. руб.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5577840" y="256946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EF1FD"/>
          </a:solidFill>
          <a:ln/>
        </p:spPr>
      </p:sp>
      <p:pic>
        <p:nvPicPr>
          <p:cNvPr id="13" name="Image 2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809" y="2642433"/>
            <a:ext cx="238110" cy="23811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80760" y="256946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Цена: </a:t>
            </a:r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и 4 990 вместо 1 990 и 3 990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5577840" y="3246120"/>
            <a:ext cx="975360" cy="1325880"/>
          </a:xfrm>
          <a:prstGeom prst="roundRect">
            <a:avLst>
              <a:gd name="adj" fmla="val 7500"/>
            </a:avLst>
          </a:prstGeom>
          <a:solidFill>
            <a:srgbClr val="EEF1FD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5614416" y="3383280"/>
            <a:ext cx="902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</a:t>
            </a:r>
            <a:endParaRPr lang="en-US" sz="1700" dirty="0"/>
          </a:p>
        </p:txBody>
      </p:sp>
      <p:sp>
        <p:nvSpPr>
          <p:cNvPr id="17" name="Text 11"/>
          <p:cNvSpPr txBox="1"/>
          <p:nvPr/>
        </p:nvSpPr>
        <p:spPr>
          <a:xfrm>
            <a:off x="5632704" y="3886200"/>
            <a:ext cx="865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LTV/CAC (было -1,78)</a:t>
            </a:r>
            <a:endParaRPr lang="en-US" sz="850" dirty="0"/>
          </a:p>
        </p:txBody>
      </p:sp>
      <p:sp>
        <p:nvSpPr>
          <p:cNvPr id="18" name="Shape 12"/>
          <p:cNvSpPr/>
          <p:nvPr/>
        </p:nvSpPr>
        <p:spPr>
          <a:xfrm>
            <a:off x="6644640" y="3246120"/>
            <a:ext cx="975360" cy="1325880"/>
          </a:xfrm>
          <a:prstGeom prst="roundRect">
            <a:avLst>
              <a:gd name="adj" fmla="val 7500"/>
            </a:avLst>
          </a:prstGeom>
          <a:solidFill>
            <a:srgbClr val="EEF1FD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6681216" y="3383280"/>
            <a:ext cx="902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 мес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699504" y="3886200"/>
            <a:ext cx="865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CAC</a:t>
            </a:r>
            <a:endParaRPr lang="en-US" sz="850" dirty="0"/>
          </a:p>
        </p:txBody>
      </p:sp>
      <p:sp>
        <p:nvSpPr>
          <p:cNvPr id="21" name="Shape 15"/>
          <p:cNvSpPr/>
          <p:nvPr/>
        </p:nvSpPr>
        <p:spPr>
          <a:xfrm>
            <a:off x="7711440" y="3246120"/>
            <a:ext cx="975360" cy="1325880"/>
          </a:xfrm>
          <a:prstGeom prst="roundRect">
            <a:avLst>
              <a:gd name="adj" fmla="val 7500"/>
            </a:avLst>
          </a:prstGeom>
          <a:solidFill>
            <a:srgbClr val="EEF1FD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7748016" y="3383280"/>
            <a:ext cx="902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33,8%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66304" y="3886200"/>
            <a:ext cx="865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маржи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Базовый сценарий окупается на 43-м месяце, но за 3 года NPV еще отрицательный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029200" cy="26822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14300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EEF1FD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669280" y="121615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-21,1 млн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669280" y="16459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за 36 месяцев, до налога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7178040" y="114300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EEF1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269480" y="121615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+23,5 млн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16459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за 60 месяцев (15,3 после налога)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577840" y="2240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EEF1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669280" y="2313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24-й мес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66928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операционная безубыточность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178040" y="2240280"/>
            <a:ext cx="1508760" cy="1005840"/>
          </a:xfrm>
          <a:prstGeom prst="roundRect">
            <a:avLst>
              <a:gd name="adj" fmla="val 7273"/>
            </a:avLst>
          </a:prstGeom>
          <a:solidFill>
            <a:srgbClr val="EEF1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269480" y="2313432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32,5 млн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пик вложений вместе с MVP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33756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713232"/>
                <a:gridCol w="713232"/>
                <a:gridCol w="630936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NPV, млн руб.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 мес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 мес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Безуб.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Пессимистичный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-89,3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-133,1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Базовый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мес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Оптимистичный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247,7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мес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5577840" y="437997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руб., до налога, ставка 22%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сильнее всего зависит от цены и минут координатора: их и проверяем в MVP</a:t>
            </a:r>
            <a:endParaRPr lang="en-US" sz="2100" dirty="0"/>
          </a:p>
        </p:txBody>
      </p:sp>
      <p:pic>
        <p:nvPicPr>
          <p:cNvPr id="3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2235200"/>
          </a:xfrm>
          <a:prstGeom prst="rect">
            <a:avLst/>
          </a:prstGeom>
        </p:spPr>
      </p:pic>
      <p:pic>
        <p:nvPicPr>
          <p:cNvPr id="4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051560"/>
            <a:ext cx="3657600" cy="1828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663440" y="2898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70,8% </a:t>
            </a:r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прогонов дают NPV за 60 мес выше нуля, за 36 мес только </a:t>
            </a:r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12,7%</a:t>
            </a:r>
            <a:endParaRPr lang="en-US" sz="950" dirty="0"/>
          </a:p>
        </p:txBody>
      </p:sp>
      <p:sp>
        <p:nvSpPr>
          <p:cNvPr id="6" name="Shape 2"/>
          <p:cNvSpPr/>
          <p:nvPr/>
        </p:nvSpPr>
        <p:spPr>
          <a:xfrm>
            <a:off x="457200" y="3429000"/>
            <a:ext cx="2621280" cy="1143000"/>
          </a:xfrm>
          <a:prstGeom prst="roundRect">
            <a:avLst>
              <a:gd name="adj" fmla="val 6400"/>
            </a:avLst>
          </a:prstGeom>
          <a:solidFill>
            <a:srgbClr val="EEF1FD"/>
          </a:solidFill>
          <a:ln/>
        </p:spPr>
      </p:sp>
      <p:sp>
        <p:nvSpPr>
          <p:cNvPr id="7" name="Shape 3"/>
          <p:cNvSpPr/>
          <p:nvPr/>
        </p:nvSpPr>
        <p:spPr>
          <a:xfrm>
            <a:off x="585216" y="355701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8" name="Image 2" descr="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85" y="3629985"/>
            <a:ext cx="238110" cy="23811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60704" y="3557016"/>
            <a:ext cx="188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Медданные (152-ФЗ ст. 10)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585216" y="4032504"/>
            <a:ext cx="2365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Письменное согласие самого родителя: СМС-код как ПЭП или бумага при визите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3261360" y="3429000"/>
            <a:ext cx="2621280" cy="1143000"/>
          </a:xfrm>
          <a:prstGeom prst="roundRect">
            <a:avLst>
              <a:gd name="adj" fmla="val 6400"/>
            </a:avLst>
          </a:prstGeom>
          <a:solidFill>
            <a:srgbClr val="EEF1FD"/>
          </a:solidFill>
          <a:ln/>
        </p:spPr>
      </p:sp>
      <p:sp>
        <p:nvSpPr>
          <p:cNvPr id="12" name="Shape 7"/>
          <p:cNvSpPr/>
          <p:nvPr/>
        </p:nvSpPr>
        <p:spPr>
          <a:xfrm>
            <a:off x="3389376" y="355701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3" name="Image 3" descr="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2345" y="3629985"/>
            <a:ext cx="238110" cy="23811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64864" y="3557016"/>
            <a:ext cx="188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Робот пропустит тревогу</a:t>
            </a:r>
            <a:endParaRPr lang="en-US" sz="1000" dirty="0"/>
          </a:p>
        </p:txBody>
      </p:sp>
      <p:sp>
        <p:nvSpPr>
          <p:cNvPr id="15" name="Text 9"/>
          <p:cNvSpPr txBox="1"/>
          <p:nvPr/>
        </p:nvSpPr>
        <p:spPr>
          <a:xfrm>
            <a:off x="3389376" y="4032504"/>
            <a:ext cx="2365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H4: ноль пропусков. Флаг передает семью человеку в тот же день</a:t>
            </a:r>
            <a:endParaRPr lang="en-US" sz="900" dirty="0"/>
          </a:p>
        </p:txBody>
      </p:sp>
      <p:sp>
        <p:nvSpPr>
          <p:cNvPr id="16" name="Shape 10"/>
          <p:cNvSpPr/>
          <p:nvPr/>
        </p:nvSpPr>
        <p:spPr>
          <a:xfrm>
            <a:off x="6065520" y="3429000"/>
            <a:ext cx="2621280" cy="1143000"/>
          </a:xfrm>
          <a:prstGeom prst="roundRect">
            <a:avLst>
              <a:gd name="adj" fmla="val 6400"/>
            </a:avLst>
          </a:prstGeom>
          <a:solidFill>
            <a:srgbClr val="EEF1FD"/>
          </a:solidFill>
          <a:ln/>
        </p:spPr>
      </p:sp>
      <p:sp>
        <p:nvSpPr>
          <p:cNvPr id="17" name="Shape 11"/>
          <p:cNvSpPr/>
          <p:nvPr/>
        </p:nvSpPr>
        <p:spPr>
          <a:xfrm>
            <a:off x="6193536" y="355701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8" name="Image 4" descr="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6505" y="3629985"/>
            <a:ext cx="238110" cy="23811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669024" y="3557016"/>
            <a:ext cx="1889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Родитель против «контроля»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6193536" y="4032504"/>
            <a:ext cx="2365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Помощь, а не надзор: родитель решает, что видит ребенок (H3)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12 недель и 4,87 млн руб. проверяем сервис на 150 семьях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4,87 млн руб.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1430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 лимита 5 млн,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126 036 руб.</a:t>
            </a:r>
            <a:endParaRPr lang="en-US" sz="9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20040" y="1645920"/>
          <a:ext cx="38404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3891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руб. по статьям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343400" y="1143000"/>
            <a:ext cx="1374648" cy="2697480"/>
          </a:xfrm>
          <a:prstGeom prst="roundRect">
            <a:avLst>
              <a:gd name="adj" fmla="val 5322"/>
            </a:avLst>
          </a:prstGeom>
          <a:solidFill>
            <a:srgbClr val="EEF1FD"/>
          </a:solidFill>
          <a:ln/>
        </p:spPr>
      </p:sp>
      <p:sp>
        <p:nvSpPr>
          <p:cNvPr id="8" name="Shape 5"/>
          <p:cNvSpPr/>
          <p:nvPr/>
        </p:nvSpPr>
        <p:spPr>
          <a:xfrm>
            <a:off x="4343400" y="1143000"/>
            <a:ext cx="1374648" cy="594360"/>
          </a:xfrm>
          <a:prstGeom prst="roundRect">
            <a:avLst>
              <a:gd name="adj" fmla="val 12308"/>
            </a:avLst>
          </a:prstGeom>
          <a:solidFill>
            <a:srgbClr val="0A2A8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471416" y="1197864"/>
            <a:ext cx="1118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 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471416" y="141732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Подготовка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1901952"/>
            <a:ext cx="11917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Юрист: схема и согласия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в MAX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координатора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фондом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827776" y="1143000"/>
            <a:ext cx="1374648" cy="2697480"/>
          </a:xfrm>
          <a:prstGeom prst="roundRect">
            <a:avLst>
              <a:gd name="adj" fmla="val 5322"/>
            </a:avLst>
          </a:prstGeom>
          <a:solidFill>
            <a:srgbClr val="EEF1FD"/>
          </a:solidFill>
          <a:ln/>
        </p:spPr>
      </p:sp>
      <p:sp>
        <p:nvSpPr>
          <p:cNvPr id="13" name="Shape 10"/>
          <p:cNvSpPr/>
          <p:nvPr/>
        </p:nvSpPr>
        <p:spPr>
          <a:xfrm>
            <a:off x="5827776" y="1143000"/>
            <a:ext cx="1374648" cy="594360"/>
          </a:xfrm>
          <a:prstGeom prst="roundRect">
            <a:avLst>
              <a:gd name="adj" fmla="val 12308"/>
            </a:avLst>
          </a:prstGeom>
          <a:solidFill>
            <a:srgbClr val="1E3F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55792" y="1197864"/>
            <a:ext cx="1118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 2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955792" y="141732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семей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919216" y="1901952"/>
            <a:ext cx="11917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клиенты ДМС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Лендинг с предоплатой (H2)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Хронометраж триажа (H4)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312152" y="1143000"/>
            <a:ext cx="1374648" cy="2697480"/>
          </a:xfrm>
          <a:prstGeom prst="roundRect">
            <a:avLst>
              <a:gd name="adj" fmla="val 5322"/>
            </a:avLst>
          </a:prstGeom>
          <a:solidFill>
            <a:srgbClr val="EEF1FD"/>
          </a:solidFill>
          <a:ln/>
        </p:spPr>
      </p:sp>
      <p:sp>
        <p:nvSpPr>
          <p:cNvPr id="18" name="Shape 15"/>
          <p:cNvSpPr/>
          <p:nvPr/>
        </p:nvSpPr>
        <p:spPr>
          <a:xfrm>
            <a:off x="7312152" y="1143000"/>
            <a:ext cx="1374648" cy="594360"/>
          </a:xfrm>
          <a:prstGeom prst="roundRect">
            <a:avLst>
              <a:gd name="adj" fmla="val 12308"/>
            </a:avLst>
          </a:prstGeom>
          <a:solidFill>
            <a:srgbClr val="1E3FD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40168" y="1197864"/>
            <a:ext cx="1118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Месяц 3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440168" y="141732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семей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7403592" y="1901952"/>
            <a:ext cx="11917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цены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семей ветеранов (H6)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B2B2C-пилоты (H5)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43400" y="4023360"/>
            <a:ext cx="4343400" cy="548640"/>
          </a:xfrm>
          <a:prstGeom prst="roundRect">
            <a:avLst>
              <a:gd name="adj" fmla="val 13333"/>
            </a:avLst>
          </a:prstGeom>
          <a:solidFill>
            <a:srgbClr val="B8F02A"/>
          </a:solidFill>
          <a:ln/>
        </p:spPr>
      </p:sp>
      <p:sp>
        <p:nvSpPr>
          <p:cNvPr id="23" name="Shape 20"/>
          <p:cNvSpPr/>
          <p:nvPr/>
        </p:nvSpPr>
        <p:spPr>
          <a:xfrm>
            <a:off x="4471416" y="41148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0A2A8A"/>
          </a:solidFill>
          <a:ln/>
        </p:spPr>
      </p:sp>
      <p:pic>
        <p:nvPicPr>
          <p:cNvPr id="24" name="Image 0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0910" y="4184294"/>
            <a:ext cx="226771" cy="226771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983480" y="40233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Неделя 12: решение по порогам H2-H6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Шесть гипотез с порогами: на неделе 12 решаем, растить проект или остановить</a:t>
            </a:r>
            <a:endParaRPr lang="en-US" sz="21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514600"/>
                <a:gridCol w="1920240"/>
                <a:gridCol w="3383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Гипотеза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проверяем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Порог успеха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8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Проблема частая и дорогая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Интервью 15+, анкета 150+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60%+ тратят 3+ часа в неделю и имели упущенный эпизод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Платят за организацию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Лендинг с предоплатой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Конверсия в предоплату 3%+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Родитель принимает звонки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MVP, 50-150 семей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70%+ согласий, 80%+ звонков с ответом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Триаж держит нагрузку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Хронометраж в 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 49 мин на семью (около 128 семей), оценка 4,5+, ноль пропущенных тревог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Семьи остаются и покупают еще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Когорты MVP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Продление 75%+, доп. услуги у 10%+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3FD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Семьи ветеранов приходят через фонд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Пилот с фондом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51B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 семей в месяц, продление 80%+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657600"/>
            <a:ext cx="2621280" cy="914400"/>
          </a:xfrm>
          <a:prstGeom prst="roundRect">
            <a:avLst>
              <a:gd name="adj" fmla="val 8000"/>
            </a:avLst>
          </a:prstGeom>
          <a:solidFill>
            <a:srgbClr val="1E3FD8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3730752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пороги H2-H6 пройдены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4041648"/>
            <a:ext cx="234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Просим около 27,7 млн руб. на рост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3261360" y="3657600"/>
            <a:ext cx="2621280" cy="914400"/>
          </a:xfrm>
          <a:prstGeom prst="roundRect">
            <a:avLst>
              <a:gd name="adj" fmla="val 8000"/>
            </a:avLst>
          </a:prstGeom>
          <a:solidFill>
            <a:srgbClr val="8FA3F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398520" y="3730752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Пройдена часть порогов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398520" y="4041648"/>
            <a:ext cx="234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Меняем цену, сценарий или сегмент, меряем снова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065520" y="3657600"/>
            <a:ext cx="2621280" cy="914400"/>
          </a:xfrm>
          <a:prstGeom prst="roundRect">
            <a:avLst>
              <a:gd name="adj" fmla="val 8000"/>
            </a:avLst>
          </a:prstGeom>
          <a:solidFill>
            <a:srgbClr val="0A2A8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202680" y="3730752"/>
            <a:ext cx="234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прошли H3 или H4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202680" y="4041648"/>
            <a:ext cx="2346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Останавливаемся. Потеря не больше 4,87 млн руб.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жюри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Доказательств хватает, чтобы вложить 4,87 млн руб. в проверку. Для масштабирования их пока нет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E3FD8"/>
          </a:solidFill>
          <a:ln/>
        </p:spPr>
      </p:sp>
      <p:pic>
        <p:nvPicPr>
          <p:cNvPr id="5" name="Image 0" descr="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169" y="1581729"/>
            <a:ext cx="238110" cy="23811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50876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говорит за проверку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011680"/>
            <a:ext cx="3931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нуждающихся без госухода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Между «сам» и сиделкой нет продукта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Ингосстраха есть почти все блоки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Особые условия для ветеранов СВО и ветеранов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Потери ограничены: 4,87 млн руб.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5087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E3FD8"/>
          </a:solidFill>
          <a:ln/>
        </p:spPr>
      </p:sp>
      <p:pic>
        <p:nvPicPr>
          <p:cNvPr id="9" name="Image 1" descr="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849" y="1581729"/>
            <a:ext cx="238110" cy="23811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257800" y="1508760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пока не доказано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4754880" y="2011680"/>
            <a:ext cx="3931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проверяем интервью 23-25.10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доли рынка пока допущения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ни одного платежа за 2 490 руб.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Нагрузка 128 семей пока расчетная</a:t>
            </a:r>
            <a:endParaRPr lang="en-US" sz="11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за 36 мес -21,1 млн руб.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7947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B8F02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3794760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indent="0" marL="0">
              <a:buNone/>
            </a:pPr>
            <a:r>
              <a:rPr lang="en-US" sz="12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профинансировать MVP и решать о росте на неделе 12 по порогам H2-H6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275320" y="477316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A2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 А: Источники</a:t>
            </a:r>
            <a:endParaRPr lang="en-US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3977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Демоскоп по данным Росстата, 65+ в РФ: demoscope.ru/weekly/2025/01079/barom01.php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ВЦИОМ, «Куда уходит старость», 2026: wciom.ru/analytical-reviews/analiticheskii-obzor/kuda-ukhodit-starost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ОСН, А. Мурашко о хронических заболеваниях: osnmedia.ru/obshhestvo/murashko-54-pozhilyh-rossiyan-imeyut-hronicheskie-infektsii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АСИ, Минтруд о долговременном уходе: asi.org.ru/news/2026/07/21/v-rossii-dolgovremennym-uhodom-ohvacheno-11-pozhilyh-i-lyudej-s-invalidnostyu-mintrud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S5 ВШЭ, обследование «Человек, семья и общество»: jsps.hse.ru/article/view/17807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S6 Peterburg2, цены на уход, 14.08.2026: peterburg2.ru/news/skolko-stoit-uhod-za-pozhilymi-roditelyami-v-rossii-realnye-summy-2026-goda-248561.html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S7 360.ru, сиделка и пансионат: 360.ru/news/obschestvo/psiholog-kondrashina-sravnila-rashody-na-sidelku-i-pansionat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S8 Коммерсантъ, полисы долговременного ухода, 02.09.2026: kommersant.ru/doc/8922548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S9 Ингосстрах, ДМС и медицинский контакт-центр: ingos.ru/health/dms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Эксперт РА, рынок страхования 2025: raexpert.ru/researches/insurance/ins_2025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S11 Эксперт РА, рейтинг ruAAA: raexpert.ru/releases/2025/dec02b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914400"/>
            <a:ext cx="3977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S12 МедРокет и Ингосстрах: infullbroker.ru/blog/tsifrovoye-dms-ingosstrakh-i-medroket-sozdali-edinuyu-sistemu-integratsii-klinik-i-strakhovschikov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S13 Мини-приложение Ингосстраха в MAX: infullbroker.ru/blog/ingosstrah-zapustil-mini-prilozhenie-v-nacionalnom-messendzhere-max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S14 RuStore, IngoMobile: rustore.ru/catalog/app/ru.ingos.ingomobile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S15 Habr, IngoMobile недоступен в сторах: habr.com/ru/news/878342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S17 Коммерсантъ, обзор ЦБ за 2025 год: kommersant.ru/doc/8438895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S23 Zoon, вызов медсестры на дом: zoon.ru/msk/medical/type/vyzov_medsestry_na_dom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S27 Страница конкурса IngoSight 2026: changellenge.com/tpage/ingosight-konkursnyy-etap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S28 Гарант, 83-ФЗ от 21.04.2025 о статусе ветерана боевых действий: garant.ru/news/1810720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S29 ВЗГЛЯД, фонд «Защитники Отечества», 01.06.2026: vz.ru/news/2026/6/1/1423828.html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S30 ТВ Звезда, А. Цивилева о социальных координаторах: tvzvezda.ru/news/2026841835-XRS6r.html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Законы (сверка в 02_research/Проверка_правовых_норм.docx): 41-ФЗ от 01.04.2025; 152-ФЗ ст. 9, 10; закон 4015-1 ст. 6; 425-ФЗ от 28.11.2025; 5-ФЗ «О ветеранах»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51B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Внутренние файлы: Финансовая_модель_ИНГОССЕМЬЯ.xlsx; Материалы_исследования_открытые_данные.docx; Льготы_ветеранов_СВО_и_ветеранов.docx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7548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A6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Метки в презентации: факт взят из источника и совпал при проверке; расчет получен командой из фактов; допущение проверяется в MVP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73168"/>
            <a:ext cx="41148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A6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F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F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внимание!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ИНГОССЕМЬЯ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gossemya">
  <a:themeElements>
    <a:clrScheme name="Ingossemya">
      <a:dk1>
        <a:srgbClr val="151B33"/>
      </a:dk1>
      <a:lt1>
        <a:srgbClr val="FFFFFF"/>
      </a:lt1>
      <a:dk2>
        <a:srgbClr val="0A2A8A"/>
      </a:dk2>
      <a:lt2>
        <a:srgbClr val="EEF1FD"/>
      </a:lt2>
      <a:accent1>
        <a:srgbClr val="1E3FD8"/>
      </a:accent1>
      <a:accent2>
        <a:srgbClr val="0A2A8A"/>
      </a:accent2>
      <a:accent3>
        <a:srgbClr val="8FA3F0"/>
      </a:accent3>
      <a:accent4>
        <a:srgbClr val="B8F02A"/>
      </a:accent4>
      <a:accent5>
        <a:srgbClr val="5A6280"/>
      </a:accent5>
      <a:accent6>
        <a:srgbClr val="C0392B"/>
      </a:accent6>
      <a:hlink>
        <a:srgbClr val="1E3FD8"/>
      </a:hlink>
      <a:folHlink>
        <a:srgbClr val="0A2A8A"/>
      </a:folHlink>
    </a:clrScheme>
    <a:fontScheme name="Ingossemy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PresentationFormat>On-screen Show (16:9)</PresentationFormat>
  <Paragraphs>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2026-10-24T08:56:25Z</dcterms:created>
  <dcterms:modified xsi:type="dcterms:W3CDTF">2026-10-24T08:56:25Z</dcterms:modified>
</cp:coreProperties>
</file>