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25a9dc1d-ddc9-fb91-173c-be66dc5107ff}">
          <p14:sldIdLst>
            <p14:sldId id="256"/>
          </p14:sldIdLst>
        </p14:section>
        <p14:section name="Сегмент и проблема" id="{9b46ea88-e0f3-42ea-c486-945bb2efd76c}">
          <p14:sldIdLst>
            <p14:sldId id="257"/>
            <p14:sldId id="258"/>
            <p14:sldId id="259"/>
          </p14:sldIdLst>
        </p14:section>
        <p14:section name="Рынок и решение" id="{ae2dcd7a-4406-afa8-a6a8-1d70de5c4861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Экономика" id="{ac9bf9e7-1fb5-ccd7-dc3f-2ee3452cade8}">
          <p14:sldIdLst>
            <p14:sldId id="268"/>
            <p14:sldId id="269"/>
            <p14:sldId id="270"/>
            <p14:sldId id="271"/>
          </p14:sldIdLst>
        </p14:section>
        <p14:section name="MVP и решение" id="{ee36c7f0-736f-9fba-18bf-52ec588ab4fe}">
          <p14:sldIdLst>
            <p14:sldId id="272"/>
            <p14:sldId id="273"/>
            <p14:sldId id="274"/>
          </p14:sldIdLst>
        </p14:section>
        <p14:section name="Приложение" id="{1a864c4a-2da9-dcdf-d2cf-48cc924901dd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5A628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5A6280"/>
                </a:solidFill>
                <a:latin typeface="Arial"/>
              </a:rPr>
              <a:t>Руб. на семью в месяц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Версия 1: живой звонок раз в неделю</c:v>
                </c:pt>
              </c:strCache>
            </c:strRef>
          </c:tx>
          <c:spPr>
            <a:solidFill>
              <a:srgbClr val="8FA3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51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Выручка без НДС</c:v>
                  </c:pt>
                  <c:pt idx="1">
                    <c:v>Координатор и накладные</c:v>
                  </c:pt>
                  <c:pt idx="2">
                    <c:v>Прочие переменные</c:v>
                  </c:pt>
                  <c:pt idx="3">
                    <c:v>Маржинальный доход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2021</c:v>
                </c:pt>
                <c:pt idx="1">
                  <c:v>2162</c:v>
                </c:pt>
                <c:pt idx="2">
                  <c:v>497</c:v>
                </c:pt>
                <c:pt idx="3">
                  <c:v>-515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Сейчас: робот каждый день + триаж</c:v>
                </c:pt>
              </c:strCache>
            </c:strRef>
          </c:tx>
          <c:spPr>
            <a:solidFill>
              <a:srgbClr val="1E3F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51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Выручка без НДС</c:v>
                  </c:pt>
                  <c:pt idx="1">
                    <c:v>Координатор и накладные</c:v>
                  </c:pt>
                  <c:pt idx="2">
                    <c:v>Прочие переменные</c:v>
                  </c:pt>
                  <c:pt idx="3">
                    <c:v>Маржинальный доход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2431</c:v>
                </c:pt>
                <c:pt idx="1">
                  <c:v>1265</c:v>
                </c:pt>
                <c:pt idx="2">
                  <c:v>426</c:v>
                </c:pt>
                <c:pt idx="3">
                  <c:v>862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51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51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Бюджет</c:v>
                </c:pt>
              </c:strCache>
            </c:strRef>
          </c:tx>
          <c:spPr>
            <a:solidFill>
              <a:srgbClr val="1E3FD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51B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Операции</c:v>
                  </c:pt>
                  <c:pt idx="1">
                    <c:v>Юридическая схема</c:v>
                  </c:pt>
                  <c:pt idx="2">
                    <c:v>Обучение</c:v>
                  </c:pt>
                  <c:pt idx="3">
                    <c:v>Накладные</c:v>
                  </c:pt>
                  <c:pt idx="4">
                    <c:v>Маркетинг и исследования</c:v>
                  </c:pt>
                  <c:pt idx="5">
                    <c:v>Резерв</c:v>
                  </c:pt>
                  <c:pt idx="6">
                    <c:v>Лицензии и ИТ</c:v>
                  </c:pt>
                  <c:pt idx="7">
                    <c:v>Команда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0.1</c:v>
                </c:pt>
                <c:pt idx="1">
                  <c:v>0.2</c:v>
                </c:pt>
                <c:pt idx="2">
                  <c:v>0.24</c:v>
                </c:pt>
                <c:pt idx="3">
                  <c:v>0.26</c:v>
                </c:pt>
                <c:pt idx="4">
                  <c:v>0.33</c:v>
                </c:pt>
                <c:pt idx="5">
                  <c:v>0.44</c:v>
                </c:pt>
                <c:pt idx="6">
                  <c:v>0.67</c:v>
                </c:pt>
                <c:pt idx="7">
                  <c:v>2.63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51B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51B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команда проекта ИНГОССЕМЬЯ. Взрослые дети организуют медпомощь пожилым родителям на расстоянии, и между «справляюсь сам» и сиделкой сейчас ничего нет. Наш сервис закрывает этот разрыв силами координаторов и медицинской инфраструктуры Ингосстраха. Дальше покажем, что подтверждают данные, как работает сервис и сколько стоит проверка.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Сегмент мы описываем по поведению, а не по возрасту: это человек, который сам организует медпомощь родителю, хотя живет отдельно. Пользователей двое, ребенок в чате и родитель по телефону, а решает и платит ребенок или его работодатель. Триггер почти всегда событие: диагноз, госпитализация или первый случай, когда о проблеме узнали поздно.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только перепроверенные открытые данные, у каждого числа метка: факт из источника или наш расчет. Главная цифра: система долговременного ухода охватывает 11% нуждающихся, остальное тянут семьи. Мы честно показываем и то, что против нас: рынок ухаживающих не растет, а доли детей, живущих отдельно, в открытых данных нет, поэтому это допущение для анкеты.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единственный слайд, который мы заполним после полевого исследования 23-25 октября. Мы заранее зафиксировали порог H1 и структуру: сколько людей опросили, три повторяющихся паттерна, цитаты и то, что противоречит гипотезе. Если порог не пройден, мы покажем это здесь прямо и поменяем решение.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начинали с карты поведения, а не со списка конкурентов. Сегодня ребенок либо все делает сам, либо нанимает сиделку за 30-72 тысячи в месяц. ДМС и полис ухода платят за лечение или после наступления случая, но никто не организует помощь для самостоятельного родителя. Этот разрыв и закрывает ИНГОССЕМЬЯ.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Размер считаем от людей 65+ через несколько долей, и каждая доля помечена. Две из них пока допущения, поэтому TAM 5,85 миллиона семей это порядок величины. Важнее другое: для базового сценария нам нужно 10 654 семей через пять лет, это 0,52% от SAM, так что запас по рынку большой даже при более скромных долях.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Ценностное предложение мы собрали строго по формуле кейса. Слева экран, который ребенок получает в день, когда мама пропустила лекарство. Отличие для пользователя измеримо: меньше часов на организацию, новости в тот же день и один номер вместо трех. Цена 2 490 рублей пока допущение, ее проверим тестом цены и анкетой.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Сценарий идет от триггера до возврата: ребенок подключает родителя в чат-боте в MAX за 5 минут, координатор знакомится с родителем и берет у него письменное согласие на медданные. Дальше каждый день короткий звонок робота, а живой человек подключается раз в месяц или по тревоге. Нижняя строка показывает, на какие системы Ингосстраха опирается каждый шаг: контакт-центр, телемедицина, клиники ДМС, МедРокет, IngoRead.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кликабельный прототип. Ребенок получает те же события в мини-приложении MAX на телефоне и в личном кабинете на компьютере: ленту с пометкой «требует внимания» и месячную сводку с предложением ДМС без давления. Родителю приложения не нужны, ему звонят на обычный телефон.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Справа рабочее место координатора: очередь по срочности, скрипт звонка и отчет ребенку в один клик. Именно этот экран определяет, сколько семей тянет один координатор, а значит и юнит-экономику: по модели около 128 семей на человека.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называем только те ресурсы, которые реально работают в сценарии. Главный из них: операторы медицинского контакт-центра ДМС уже каждый день организуют медпомощь, мы переупаковываем эту компетенцию для семьи без полиса. Есть и слабые места: IngoMobile недоступен в Google Play и App Store с 31.01.2025, а с 01.06.2025 финорганизациям запрещено информировать клиентов через иностранные мессенджеры, поэтому MVP не зависит от приложения.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встроили в продукт особые условия для ветеранов СВО и ветеранов, и это не разовая акция. У семей участников СВО та же задача стоит острее: участник на службе не может каждый день звонить родителю, а у родителей погибших участников рядом вообще нет ребенка, поэтому для них тариф «Базовый» бесплатный. Участникам СВО на службе скидка 50%, ветеранам боевых действий 30%, ветеранам ВОВ и ветеранам труда 10%. Но главное не скидка, а навигатор: координатор помогает получить положенную по закону внеочередную медпомощь и льготные лекарства. Фонд «Защитники Отечества» для нас партнер: его социальные координаторы решают социальные вопросы и передают нам медицинские задачи по родителю. Льготы стоят сервису 46,8 миллиона рублей за пять лет, и эта сумма уже вычтена из всех цифр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Пользуются сервисом ребенок и родитель, платит ребенок или работодатель. Подписку продает отдельная сервисная компания группы, потому что статья 6 закона об организации страхового дела ограничивает страховщика страховой деятельностью; схему подтвердит юрист в первый месяц MVP. Плюс кросс-продажи ДМС и полиса ухода и льготы ветеранам со средней скидкой 4,8%. Сильнее всего экономику двигают нагрузка на координатора, стоимость привлечения и отток, поэтому все три мы меряем в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версия, где живой координатор звонит каждой семье раз в неделю, теряла 515 рублей на каждой семье: чем больше клиентов, тем глубже минус. Мы отдали рутину роботу и телемедицине, перенесли координаторов в регион и подняли цену. Теперь семья приносит 862 рублей маржинального дохода с учетом льгот ветеранам, а LTV/CAC 3,0. Поэтому главная гипотеза MVP именно про триаж.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скрываем, что проект не быстрый. В базе операционная безубыточность на 24-м месяце, окупаемость на 43-м, NPV за три года минус 21,1 миллиона, за пять лет плюс 23,5. Льготы ветеранам уже вычтены. Пессимистичный сценарий уходит в глубокий минус, поэтому решение о росте мы привязываем к результатам MVP, а не к прогнозу.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Торнадо показывает, что главные рычаги это цена тарифов, минуты координатора на семью и его зарплата. Монте-Карло на 5 000 прогонов дает положительный NPV за пять лет в 70,8% случаев, а за три года только в 12,7%. Пиковая потребность в деньгах в 95% прогонов не выше 63,3 миллиона. Внизу три риска, которые мы закрываем дизайном MVP: согласие родителя на медданные, пропуск тревоги роботом и отказ родителя от «контроля».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 частично ручной и не требует новой разработки в IngoMobile. Больше половины бюджета это команда: три координатора из действующих операторов ДМС, супервизор и продакт. Первый месяц уходит на юридическую схему, бот, скрипты, курс по льготам ветеранов и договор о пилоте с фондом «Защитники Отечества», во втором запускаем 50 семей, в третьем растем до 150, из них около 15 семей ветеранов, и тестируем цену 2 490 и 4 990 рублей. В конце двенадцатой недели принимаем решение.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Каждая гипотеза имеет способ проверки и числовой порог, заданный заранее. H4 выделена: если триаж не удержит 49 минут на семью, экономика возвращается к версии 1. Правило решения простое: все пороги пройдены, просим деньги на рост; часть, перестраиваем и меряем снова; провал H3 или H4, останавливаемся. H6 проверяет канал через фонд «Защитники Отечества»: если он не сработает, льготы остаются, а канал убираем из модели.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 честный ответ: да, чтобы инвестировать в трехмесячную проверку, и нет, чтобы сразу масштабировать. За проверку говорят открытые данные, пустая ниша между «сам» и сиделкой и готовые блоки Ингосстраха. Против пока то, что спрос и готовность платить не подтверждены реальными людьми и деньгами, а NPV за три года положителен только в 12,7% прогонов. Поэтому просим 4,87 миллиона с жесткой точкой решения на двенадцатой неделе.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все внешние источники с кодами, которые стоят на слайдах. Факты перепроверены 22 октября 2026 года. Полная таблица фактов с вердиктами лежит в материалах исследования.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2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4-1.png"/><Relationship Id="rId3" Type="http://schemas.openxmlformats.org/officeDocument/2006/relationships/image" Target="../media/image-14-2.png"/><Relationship Id="rId4" Type="http://schemas.openxmlformats.org/officeDocument/2006/relationships/image" Target="../media/image-14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17320" cy="237744"/>
          </a:xfrm>
          <a:prstGeom prst="roundRect">
            <a:avLst>
              <a:gd name="adj" fmla="val 50000"/>
            </a:avLst>
          </a:prstGeom>
          <a:solidFill>
            <a:srgbClr val="B8F0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IngoSight 2026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5029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Отборочный этап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ИНГОССЕМЬЯ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Координатор Ингосстраха организует медпомощь пожилому родителю, а взрослый ребенок в тот же день знает, что сделано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4937760" cy="0"/>
          </a:xfrm>
          <a:prstGeom prst="line">
            <a:avLst/>
          </a:prstGeom>
          <a:noFill/>
          <a:ln w="12700">
            <a:solidFill>
              <a:srgbClr val="1E3F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A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Направление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«Здоровье и благополучие»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69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Конкурс им. В. И. Щербакова, Ингосстрах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777240"/>
            <a:ext cx="3017520" cy="3017520"/>
          </a:xfrm>
          <a:prstGeom prst="ellipse">
            <a:avLst/>
          </a:prstGeom>
          <a:solidFill>
            <a:srgbClr val="1E3FD8">
              <a:alpha val="70000"/>
            </a:srgbClr>
          </a:solidFill>
          <a:ln/>
        </p:spPr>
      </p:sp>
      <p:pic>
        <p:nvPicPr>
          <p:cNvPr id="11" name="Image 0" descr="/Users/mihailkraynev/Documents/Dev/ingosstrah project/08_presentation/build_source/img/ph_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6954" y="274320"/>
            <a:ext cx="2399372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Покупает работающий взрослый ребенок, который организует медпомощь родителю издалека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Взрослые 35-60 лет, у которых родитель 70+ с хронической болезнью живет отдельно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560320" cy="1261872"/>
          </a:xfrm>
          <a:prstGeom prst="roundRect">
            <a:avLst>
              <a:gd name="adj" fmla="val 5797"/>
            </a:avLst>
          </a:prstGeom>
          <a:solidFill>
            <a:srgbClr val="EEF1FD"/>
          </a:solidFill>
          <a:ln/>
        </p:spPr>
      </p:sp>
      <p:sp>
        <p:nvSpPr>
          <p:cNvPr id="5" name="Shape 3"/>
          <p:cNvSpPr/>
          <p:nvPr/>
        </p:nvSpPr>
        <p:spPr>
          <a:xfrm>
            <a:off x="621792" y="17190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Users/mihailkraynev/Documents/Dev/ingosstrah project/08_presentation/build_source/img/icons/users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81965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07008" y="1719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28600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Ребенок в чате, родитель по обычному телефону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1554480"/>
            <a:ext cx="2560320" cy="1261872"/>
          </a:xfrm>
          <a:prstGeom prst="roundRect">
            <a:avLst>
              <a:gd name="adj" fmla="val 5797"/>
            </a:avLst>
          </a:prstGeom>
          <a:solidFill>
            <a:srgbClr val="EEF1FD"/>
          </a:solidFill>
          <a:ln/>
        </p:spPr>
      </p:sp>
      <p:sp>
        <p:nvSpPr>
          <p:cNvPr id="10" name="Shape 7"/>
          <p:cNvSpPr/>
          <p:nvPr/>
        </p:nvSpPr>
        <p:spPr>
          <a:xfrm>
            <a:off x="3364992" y="17190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/Users/mihailkraynev/Documents/Dev/ingosstrah project/08_presentation/build_source/img/icons/user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5576" y="181965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950208" y="17190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решает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364992" y="2286000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Взрослый ребенок, иногда с братьями и сестрами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999232"/>
            <a:ext cx="2560320" cy="1261872"/>
          </a:xfrm>
          <a:prstGeom prst="roundRect">
            <a:avLst>
              <a:gd name="adj" fmla="val 5797"/>
            </a:avLst>
          </a:prstGeom>
          <a:solidFill>
            <a:srgbClr val="EEF1FD"/>
          </a:solidFill>
          <a:ln/>
        </p:spPr>
      </p:sp>
      <p:sp>
        <p:nvSpPr>
          <p:cNvPr id="15" name="Shape 11"/>
          <p:cNvSpPr/>
          <p:nvPr/>
        </p:nvSpPr>
        <p:spPr>
          <a:xfrm>
            <a:off x="621792" y="31638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/Users/mihailkraynev/Documents/Dev/ingosstrah project/08_presentation/build_source/img/icons/walle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26440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07008" y="31638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платит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" y="373075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Ребенок (B2C) или работодатель через ДМС (B2B2C)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0" y="2999232"/>
            <a:ext cx="2560320" cy="1261872"/>
          </a:xfrm>
          <a:prstGeom prst="roundRect">
            <a:avLst>
              <a:gd name="adj" fmla="val 5797"/>
            </a:avLst>
          </a:prstGeom>
          <a:solidFill>
            <a:srgbClr val="EEF1FD"/>
          </a:solidFill>
          <a:ln/>
        </p:spPr>
      </p:sp>
      <p:sp>
        <p:nvSpPr>
          <p:cNvPr id="20" name="Shape 15"/>
          <p:cNvSpPr/>
          <p:nvPr/>
        </p:nvSpPr>
        <p:spPr>
          <a:xfrm>
            <a:off x="3364992" y="31638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/Users/mihailkraynev/Documents/Dev/ingosstrah project/08_presentation/build_source/img/icons/zap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3264408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950208" y="31638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Триггер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3364992" y="3730752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Диагноз, госпитализация, первый упущенный эпизод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943600" y="1554480"/>
            <a:ext cx="2743200" cy="2706624"/>
          </a:xfrm>
          <a:prstGeom prst="roundRect">
            <a:avLst>
              <a:gd name="adj" fmla="val 2703"/>
            </a:avLst>
          </a:prstGeom>
          <a:solidFill>
            <a:srgbClr val="0A2A8A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126480" y="1719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(JTBD)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126480" y="2103120"/>
            <a:ext cx="2377440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Когда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родителя что-то со здоровьем, </a:t>
            </a:r>
            <a:pPr indent="0" marL="0">
              <a:buNone/>
            </a:pPr>
            <a:r>
              <a:rPr lang="en-US" sz="130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хочу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 организовать помощь, не бросая работу, </a:t>
            </a:r>
            <a:pPr indent="0" marL="0">
              <a:buNone/>
            </a:pPr>
            <a:r>
              <a:rPr lang="en-US" sz="130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чтобы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узнать о проблеме слишком поздно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457200" y="4425696"/>
            <a:ext cx="365760" cy="36576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28" name="Image 4" descr="/Users/mihailkraynev/Documents/Dev/ingosstrah project/08_presentation/build_source/img/icons/circle-alert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" y="4506163"/>
            <a:ext cx="204826" cy="20482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60120" y="4425696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Сейчас: </a:t>
            </a:r>
            <a:pPr indent="0" marL="0">
              <a:buNone/>
            </a:pPr>
            <a:r>
              <a:rPr lang="en-US" sz="10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звонки каждый день, Госуслуги за родителя, поездки «на всякий случай». Родитель скрывает симптомы, чтобы не беспокоить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концепция и пояснительная записка команды; признаки сильной проблемы проверяем в интервью 23-25.10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Почти 9 из 10 нуждающихся в уходе остаются на семье: госсистема охватывает 11%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499616" cy="1920240"/>
          </a:xfrm>
          <a:prstGeom prst="roundRect">
            <a:avLst>
              <a:gd name="adj" fmla="val 4878"/>
            </a:avLst>
          </a:prstGeom>
          <a:solidFill>
            <a:srgbClr val="EEF1F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85216" y="1252728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25,8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85216" y="187452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млн людей 65+ в России, 17,7% населения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5216" y="2770632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0A2A8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85216" y="27706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499616" y="277063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39696" y="1143000"/>
            <a:ext cx="1499616" cy="1920240"/>
          </a:xfrm>
          <a:prstGeom prst="roundRect">
            <a:avLst>
              <a:gd name="adj" fmla="val 4878"/>
            </a:avLst>
          </a:prstGeom>
          <a:solidFill>
            <a:srgbClr val="EEF1F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67712" y="1252728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187452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россиян ухаживают за близким раз в неделю и чаще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67712" y="2770632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0A2A8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267712" y="27706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182112" y="277063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22192" y="1143000"/>
            <a:ext cx="1499616" cy="1920240"/>
          </a:xfrm>
          <a:prstGeom prst="roundRect">
            <a:avLst>
              <a:gd name="adj" fmla="val 4878"/>
            </a:avLst>
          </a:prstGeom>
          <a:solidFill>
            <a:srgbClr val="EEF1F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50208" y="1252728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3950208" y="187452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старше трудоспособного возраста хронически болеют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950208" y="2770632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0A2A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50208" y="27706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864608" y="277063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04688" y="1143000"/>
            <a:ext cx="1499616" cy="1920240"/>
          </a:xfrm>
          <a:prstGeom prst="roundRect">
            <a:avLst>
              <a:gd name="adj" fmla="val 4878"/>
            </a:avLst>
          </a:prstGeom>
          <a:solidFill>
            <a:srgbClr val="0A2A8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632704" y="1252728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5632704" y="187452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нуждающихся вне системы долговременного ухода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32704" y="2770632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8FA3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632704" y="27706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расчет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6547104" y="277063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187184" y="1143000"/>
            <a:ext cx="1499616" cy="1920240"/>
          </a:xfrm>
          <a:prstGeom prst="roundRect">
            <a:avLst>
              <a:gd name="adj" fmla="val 4878"/>
            </a:avLst>
          </a:prstGeom>
          <a:solidFill>
            <a:srgbClr val="EEF1F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0" y="1252728"/>
            <a:ext cx="1243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&gt;10%</a:t>
            </a:r>
            <a:endParaRPr lang="en-US" sz="28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0" y="1874520"/>
            <a:ext cx="1243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ухаживающих сократили работу или уволились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15200" y="2770632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0A2A8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0" y="27706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2770632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не сходится с гипотезой и как мы это учли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3749040"/>
            <a:ext cx="384048" cy="384048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5" name="Image 0" descr="/Users/mihailkraynev/Documents/Dev/ingosstrah project/08_presentation/build_source/img/icons/route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691" y="3833531"/>
            <a:ext cx="215067" cy="215067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960120" y="3749040"/>
            <a:ext cx="211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Рынок не растет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457200" y="420624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Ухаживают 19% против 21% в 2021. Считаем по сегменту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261360" y="3749040"/>
            <a:ext cx="384048" cy="384048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9" name="Image 1" descr="/Users/mihailkraynev/Documents/Dev/ingosstrah project/08_presentation/build_source/img/icons/circle-aler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5851" y="3833531"/>
            <a:ext cx="215067" cy="215067"/>
          </a:xfrm>
          <a:prstGeom prst="rect">
            <a:avLst/>
          </a:prstGeom>
        </p:spPr>
      </p:pic>
      <p:sp>
        <p:nvSpPr>
          <p:cNvPr id="40" name="Text 36"/>
          <p:cNvSpPr txBox="1"/>
          <p:nvPr/>
        </p:nvSpPr>
        <p:spPr>
          <a:xfrm>
            <a:off x="3764280" y="3749040"/>
            <a:ext cx="211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данных по сегменту</a:t>
            </a:r>
            <a:endParaRPr lang="en-US" sz="1100" dirty="0"/>
          </a:p>
        </p:txBody>
      </p:sp>
      <p:sp>
        <p:nvSpPr>
          <p:cNvPr id="41" name="Text 37"/>
          <p:cNvSpPr txBox="1"/>
          <p:nvPr/>
        </p:nvSpPr>
        <p:spPr>
          <a:xfrm>
            <a:off x="3261360" y="420624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Долю детей, живущих отдельно, берем 60% и проверяем анкетой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6065520" y="3749040"/>
            <a:ext cx="384048" cy="384048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43" name="Image 2" descr="/Users/mihailkraynev/Documents/Dev/ingosstrah project/08_presentation/build_source/img/icons/ban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011" y="3833531"/>
            <a:ext cx="215067" cy="215067"/>
          </a:xfrm>
          <a:prstGeom prst="rect">
            <a:avLst/>
          </a:prstGeom>
        </p:spPr>
      </p:pic>
      <p:sp>
        <p:nvSpPr>
          <p:cNvPr id="44" name="Text 39"/>
          <p:cNvSpPr txBox="1"/>
          <p:nvPr/>
        </p:nvSpPr>
        <p:spPr>
          <a:xfrm>
            <a:off x="6568440" y="3749040"/>
            <a:ext cx="211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Старые цифры убрали</a:t>
            </a:r>
            <a:endParaRPr lang="en-US" sz="1100" dirty="0"/>
          </a:p>
        </p:txBody>
      </p:sp>
      <p:sp>
        <p:nvSpPr>
          <p:cNvPr id="45" name="Text 40"/>
          <p:cNvSpPr txBox="1"/>
          <p:nvPr/>
        </p:nvSpPr>
        <p:spPr>
          <a:xfrm>
            <a:off x="6065520" y="420624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Опрос НАФИ 2016 года о тратах на уход не используем</a:t>
            </a:r>
            <a:endParaRPr lang="en-US" sz="1000" dirty="0"/>
          </a:p>
        </p:txBody>
      </p:sp>
      <p:sp>
        <p:nvSpPr>
          <p:cNvPr id="46" name="Text 41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S1 Росстат через Демоскоп, 01.01.2025; S2 ВЦИОМ, 18.09.2026, n=1600; S3 слова министра Мурашко, 07.2026, пересказ СМИ; S4 Минтруд через АСИ, 21.07.2026 (100% - 11%); S5 ВШЭ, 2020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Интервью и опрос покажут, проходит ли проблема порог H1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206240" cy="365760"/>
          </a:xfrm>
          <a:prstGeom prst="roundRect">
            <a:avLst>
              <a:gd name="adj" fmla="val 20000"/>
            </a:avLst>
          </a:prstGeom>
          <a:solidFill>
            <a:srgbClr val="B8F0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Заполняется по итогам интервью 23-25.10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143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H1: 60%+ тратят 3+ часа в неделю и имели упущенный эпизод за полгода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21280" cy="2880360"/>
          </a:xfrm>
          <a:prstGeom prst="roundRect">
            <a:avLst>
              <a:gd name="adj" fmla="val 2791"/>
            </a:avLst>
          </a:prstGeom>
          <a:ln w="12700">
            <a:solidFill>
              <a:srgbClr val="D5DB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56232"/>
            <a:ext cx="384048" cy="384048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8" name="Image 0" descr="/Users/mihailkraynev/Documents/Dev/ingosstrah project/08_presentation/build_source/img/icons/users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571" y="1940723"/>
            <a:ext cx="215067" cy="215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1856232"/>
            <a:ext cx="179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Респонденты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42316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FA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898648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интервью, план 15+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337560"/>
            <a:ext cx="225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FA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3813048"/>
            <a:ext cx="225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анкет, план 150+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261360" y="1691640"/>
            <a:ext cx="2621280" cy="2880360"/>
          </a:xfrm>
          <a:prstGeom prst="roundRect">
            <a:avLst>
              <a:gd name="adj" fmla="val 2791"/>
            </a:avLst>
          </a:prstGeom>
          <a:ln w="12700">
            <a:solidFill>
              <a:srgbClr val="D5DB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44240" y="1856232"/>
            <a:ext cx="384048" cy="384048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16" name="Image 1" descr="/Users/mihailkraynev/Documents/Dev/ingosstrah project/08_presentation/build_source/img/icons/list-check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731" y="1940723"/>
            <a:ext cx="215067" cy="21506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947160" y="1856232"/>
            <a:ext cx="179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повторяющихся паттерна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3444240" y="2468880"/>
            <a:ext cx="310896" cy="310896"/>
          </a:xfrm>
          <a:prstGeom prst="ellipse">
            <a:avLst/>
          </a:prstGeom>
          <a:solidFill>
            <a:srgbClr val="1E3FD8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3444240" y="2468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3883152" y="2450592"/>
            <a:ext cx="1844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Паттерн: ___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__ из __ респондентов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444240" y="3246120"/>
            <a:ext cx="310896" cy="310896"/>
          </a:xfrm>
          <a:prstGeom prst="ellipse">
            <a:avLst/>
          </a:prstGeom>
          <a:solidFill>
            <a:srgbClr val="1E3FD8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344424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3883152" y="3227832"/>
            <a:ext cx="1844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Паттерн: ___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__ из __ респондентов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444240" y="4023360"/>
            <a:ext cx="310896" cy="310896"/>
          </a:xfrm>
          <a:prstGeom prst="ellipse">
            <a:avLst/>
          </a:prstGeom>
          <a:solidFill>
            <a:srgbClr val="1E3FD8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3444240" y="4023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3883152" y="4005072"/>
            <a:ext cx="1844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Паттерн: ___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__ из __ респондентов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6065520" y="1691640"/>
            <a:ext cx="2621280" cy="1348740"/>
          </a:xfrm>
          <a:prstGeom prst="roundRect">
            <a:avLst>
              <a:gd name="adj" fmla="val 5424"/>
            </a:avLst>
          </a:prstGeom>
          <a:solidFill>
            <a:srgbClr val="EEF1FD"/>
          </a:solidFill>
          <a:ln/>
        </p:spPr>
      </p:sp>
      <p:sp>
        <p:nvSpPr>
          <p:cNvPr id="28" name="Shape 24"/>
          <p:cNvSpPr/>
          <p:nvPr/>
        </p:nvSpPr>
        <p:spPr>
          <a:xfrm>
            <a:off x="6248400" y="185623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2" descr="/Users/mihailkraynev/Documents/Dev/ingosstrah project/08_presentation/build_source/img/icons/message-circle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891" y="1940723"/>
            <a:ext cx="215067" cy="215067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751320" y="1856232"/>
            <a:ext cx="179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Цитаты</a:t>
            </a:r>
            <a:endParaRPr lang="en-US" sz="1250" dirty="0"/>
          </a:p>
        </p:txBody>
      </p:sp>
      <p:sp>
        <p:nvSpPr>
          <p:cNvPr id="31" name="Text 26"/>
          <p:cNvSpPr txBox="1"/>
          <p:nvPr/>
        </p:nvSpPr>
        <p:spPr>
          <a:xfrm>
            <a:off x="6248400" y="2377440"/>
            <a:ext cx="225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«___»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«___»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065520" y="3223260"/>
            <a:ext cx="2621280" cy="1348740"/>
          </a:xfrm>
          <a:prstGeom prst="roundRect">
            <a:avLst>
              <a:gd name="adj" fmla="val 5424"/>
            </a:avLst>
          </a:prstGeom>
          <a:solidFill>
            <a:srgbClr val="EEF1FD"/>
          </a:solidFill>
          <a:ln/>
        </p:spPr>
      </p:sp>
      <p:sp>
        <p:nvSpPr>
          <p:cNvPr id="33" name="Shape 28"/>
          <p:cNvSpPr/>
          <p:nvPr/>
        </p:nvSpPr>
        <p:spPr>
          <a:xfrm>
            <a:off x="6248400" y="338785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3" descr="/Users/mihailkraynev/Documents/Dev/ingosstrah project/08_presentation/build_source/img/icons/circle-aler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891" y="3472343"/>
            <a:ext cx="215067" cy="215067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6751320" y="3387852"/>
            <a:ext cx="179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против гипотезы</a:t>
            </a:r>
            <a:endParaRPr lang="en-US" sz="1250" dirty="0"/>
          </a:p>
        </p:txBody>
      </p:sp>
      <p:sp>
        <p:nvSpPr>
          <p:cNvPr id="36" name="Text 30"/>
          <p:cNvSpPr txBox="1"/>
          <p:nvPr/>
        </p:nvSpPr>
        <p:spPr>
          <a:xfrm>
            <a:off x="6248400" y="3909060"/>
            <a:ext cx="225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меняем: ___</a:t>
            </a:r>
            <a:endParaRPr lang="en-US" sz="1050" dirty="0"/>
          </a:p>
        </p:txBody>
      </p:sp>
      <p:sp>
        <p:nvSpPr>
          <p:cNvPr id="37" name="Text 31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собственное полевое исследование 23-25.10.2026: интервью и онлайн-анкета; результаты также заменят допущения 60% и 70% в оценке рынка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 «справляюсь сам» и сиделкой ничего нет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1252728"/>
            <a:ext cx="8229600" cy="0"/>
          </a:xfrm>
          <a:prstGeom prst="line">
            <a:avLst/>
          </a:prstGeom>
          <a:noFill/>
          <a:ln w="19050">
            <a:solidFill>
              <a:srgbClr val="8FA3F0"/>
            </a:solidFill>
            <a:prstDash val="solid"/>
            <a:tailEnd type="triangle"/>
          </a:ln>
        </p:spPr>
      </p:sp>
      <p:sp>
        <p:nvSpPr>
          <p:cNvPr id="4" name="Text 2"/>
          <p:cNvSpPr txBox="1"/>
          <p:nvPr/>
        </p:nvSpPr>
        <p:spPr>
          <a:xfrm>
            <a:off x="457200" y="1033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дешевле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0332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дороже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081605" cy="2468880"/>
          </a:xfrm>
          <a:prstGeom prst="roundRect">
            <a:avLst>
              <a:gd name="adj" fmla="val 6763"/>
            </a:avLst>
          </a:prstGeom>
          <a:solidFill>
            <a:srgbClr val="EEF1FD"/>
          </a:solidFill>
          <a:ln/>
        </p:spPr>
      </p:sp>
      <p:sp>
        <p:nvSpPr>
          <p:cNvPr id="7" name="Shape 5"/>
          <p:cNvSpPr/>
          <p:nvPr/>
        </p:nvSpPr>
        <p:spPr>
          <a:xfrm>
            <a:off x="741970" y="162763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Users/mihailkraynev/Documents/Dev/ingosstrah project/08_presentation/build_source/img/icons/user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624" y="1740286"/>
            <a:ext cx="286756" cy="2867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93776" y="2240280"/>
            <a:ext cx="10084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12064" y="2651760"/>
            <a:ext cx="9718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руб.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12064" y="2980944"/>
            <a:ext cx="9718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ценой времени и отгулов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40080" y="3364992"/>
            <a:ext cx="715845" cy="0"/>
          </a:xfrm>
          <a:prstGeom prst="line">
            <a:avLst/>
          </a:prstGeom>
          <a:noFill/>
          <a:ln w="12700">
            <a:solidFill>
              <a:srgbClr val="D5DB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" y="3456432"/>
            <a:ext cx="9353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держится на одном человеке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648533" y="1463040"/>
            <a:ext cx="1081605" cy="2468880"/>
          </a:xfrm>
          <a:prstGeom prst="roundRect">
            <a:avLst>
              <a:gd name="adj" fmla="val 6763"/>
            </a:avLst>
          </a:prstGeom>
          <a:solidFill>
            <a:srgbClr val="EEF1FD"/>
          </a:solidFill>
          <a:ln/>
        </p:spPr>
      </p:sp>
      <p:sp>
        <p:nvSpPr>
          <p:cNvPr id="15" name="Shape 12"/>
          <p:cNvSpPr/>
          <p:nvPr/>
        </p:nvSpPr>
        <p:spPr>
          <a:xfrm>
            <a:off x="1933303" y="162763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/Users/mihailkraynev/Documents/Dev/ingosstrah project/08_presentation/build_source/img/icons/user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957" y="1740286"/>
            <a:ext cx="286756" cy="28675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685109" y="2240280"/>
            <a:ext cx="10084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Соседи и родные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1703397" y="2651760"/>
            <a:ext cx="9718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подарки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1703397" y="2980944"/>
            <a:ext cx="9718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ответные услуги</a:t>
            </a:r>
            <a:endParaRPr lang="en-US" sz="850" dirty="0"/>
          </a:p>
        </p:txBody>
      </p:sp>
      <p:sp>
        <p:nvSpPr>
          <p:cNvPr id="20" name="Shape 16"/>
          <p:cNvSpPr/>
          <p:nvPr/>
        </p:nvSpPr>
        <p:spPr>
          <a:xfrm>
            <a:off x="1831413" y="3364992"/>
            <a:ext cx="715845" cy="0"/>
          </a:xfrm>
          <a:prstGeom prst="line">
            <a:avLst/>
          </a:prstGeom>
          <a:noFill/>
          <a:ln w="12700">
            <a:solidFill>
              <a:srgbClr val="D5DBF5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1721685" y="3456432"/>
            <a:ext cx="9353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регулярности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839865" y="1463040"/>
            <a:ext cx="1081605" cy="2468880"/>
          </a:xfrm>
          <a:prstGeom prst="roundRect">
            <a:avLst>
              <a:gd name="adj" fmla="val 6763"/>
            </a:avLst>
          </a:prstGeom>
          <a:solidFill>
            <a:srgbClr val="EEF1FD"/>
          </a:solidFill>
          <a:ln/>
        </p:spPr>
      </p:sp>
      <p:sp>
        <p:nvSpPr>
          <p:cNvPr id="23" name="Shape 19"/>
          <p:cNvSpPr/>
          <p:nvPr/>
        </p:nvSpPr>
        <p:spPr>
          <a:xfrm>
            <a:off x="3124635" y="162763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2" descr="/Users/mihailkraynev/Documents/Dev/ingosstrah project/08_presentation/build_source/img/icons/video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290" y="1740286"/>
            <a:ext cx="286756" cy="286756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2876441" y="2240280"/>
            <a:ext cx="10084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Телемедицина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2894729" y="2651760"/>
            <a:ext cx="9718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разово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2894729" y="2980944"/>
            <a:ext cx="9718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консультация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3022745" y="3364992"/>
            <a:ext cx="715845" cy="0"/>
          </a:xfrm>
          <a:prstGeom prst="line">
            <a:avLst/>
          </a:prstGeom>
          <a:noFill/>
          <a:ln w="12700">
            <a:solidFill>
              <a:srgbClr val="D5DBF5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2913017" y="3456432"/>
            <a:ext cx="9353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Родитель не пользуется приложениями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4031198" y="1463040"/>
            <a:ext cx="1081605" cy="2468880"/>
          </a:xfrm>
          <a:prstGeom prst="roundRect">
            <a:avLst>
              <a:gd name="adj" fmla="val 6763"/>
            </a:avLst>
          </a:prstGeom>
          <a:solidFill>
            <a:srgbClr val="EEF1FD"/>
          </a:solidFill>
          <a:ln/>
        </p:spPr>
      </p:sp>
      <p:sp>
        <p:nvSpPr>
          <p:cNvPr id="31" name="Shape 26"/>
          <p:cNvSpPr/>
          <p:nvPr/>
        </p:nvSpPr>
        <p:spPr>
          <a:xfrm>
            <a:off x="4315968" y="162763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3" descr="/Users/mihailkraynev/Documents/Dev/ingosstrah project/08_presentation/build_source/img/icons/shield-check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622" y="1740286"/>
            <a:ext cx="286756" cy="286756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4067774" y="2240280"/>
            <a:ext cx="10084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Полис ухода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4086062" y="2651760"/>
            <a:ext cx="9718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8-25 тыс.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4086062" y="2980944"/>
            <a:ext cx="9718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руб. в год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4214078" y="3364992"/>
            <a:ext cx="715845" cy="0"/>
          </a:xfrm>
          <a:prstGeom prst="line">
            <a:avLst/>
          </a:prstGeom>
          <a:noFill/>
          <a:ln w="12700">
            <a:solidFill>
              <a:srgbClr val="D5DBF5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4104350" y="3456432"/>
            <a:ext cx="9353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Платит только после страхового случая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5222530" y="1463040"/>
            <a:ext cx="1081605" cy="2468880"/>
          </a:xfrm>
          <a:prstGeom prst="roundRect">
            <a:avLst>
              <a:gd name="adj" fmla="val 6763"/>
            </a:avLst>
          </a:prstGeom>
          <a:solidFill>
            <a:srgbClr val="0A2A8A"/>
          </a:solidFill>
          <a:ln/>
        </p:spPr>
      </p:sp>
      <p:sp>
        <p:nvSpPr>
          <p:cNvPr id="39" name="Shape 33"/>
          <p:cNvSpPr/>
          <p:nvPr/>
        </p:nvSpPr>
        <p:spPr>
          <a:xfrm>
            <a:off x="5507301" y="1627632"/>
            <a:ext cx="512064" cy="512064"/>
          </a:xfrm>
          <a:prstGeom prst="ellipse">
            <a:avLst/>
          </a:prstGeom>
          <a:solidFill>
            <a:srgbClr val="B8F02A"/>
          </a:solidFill>
          <a:ln/>
        </p:spPr>
      </p:sp>
      <p:pic>
        <p:nvPicPr>
          <p:cNvPr id="40" name="Image 4" descr="/Users/mihailkraynev/Documents/Dev/ingosstrah project/08_presentation/build_source/img/icons/heart-handshak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955" y="1740286"/>
            <a:ext cx="286756" cy="286756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5259106" y="2240280"/>
            <a:ext cx="10084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ИНГОССЕМЬЯ</a:t>
            </a:r>
            <a:endParaRPr lang="en-US" sz="950" dirty="0"/>
          </a:p>
        </p:txBody>
      </p:sp>
      <p:sp>
        <p:nvSpPr>
          <p:cNvPr id="42" name="Text 35"/>
          <p:cNvSpPr txBox="1"/>
          <p:nvPr/>
        </p:nvSpPr>
        <p:spPr>
          <a:xfrm>
            <a:off x="5277394" y="2651760"/>
            <a:ext cx="9718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2 490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5277394" y="2980944"/>
            <a:ext cx="9718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руб. в месяц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5405410" y="3364992"/>
            <a:ext cx="715845" cy="0"/>
          </a:xfrm>
          <a:prstGeom prst="line">
            <a:avLst/>
          </a:prstGeom>
          <a:noFill/>
          <a:ln w="12700">
            <a:solidFill>
              <a:srgbClr val="1E3FD8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5295682" y="3456432"/>
            <a:ext cx="9353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Организует помощь заранее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413863" y="1463040"/>
            <a:ext cx="1081605" cy="2468880"/>
          </a:xfrm>
          <a:prstGeom prst="roundRect">
            <a:avLst>
              <a:gd name="adj" fmla="val 6763"/>
            </a:avLst>
          </a:prstGeom>
          <a:solidFill>
            <a:srgbClr val="EEF1FD"/>
          </a:solidFill>
          <a:ln/>
        </p:spPr>
      </p:sp>
      <p:sp>
        <p:nvSpPr>
          <p:cNvPr id="47" name="Shape 40"/>
          <p:cNvSpPr/>
          <p:nvPr/>
        </p:nvSpPr>
        <p:spPr>
          <a:xfrm>
            <a:off x="6698633" y="162763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5" descr="/Users/mihailkraynev/Documents/Dev/ingosstrah project/08_presentation/build_source/img/icons/stethoscope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1287" y="1740286"/>
            <a:ext cx="286756" cy="286756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6450439" y="2240280"/>
            <a:ext cx="10084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ДМС родителю</a:t>
            </a:r>
            <a:endParaRPr lang="en-US" sz="1050" dirty="0"/>
          </a:p>
        </p:txBody>
      </p:sp>
      <p:sp>
        <p:nvSpPr>
          <p:cNvPr id="50" name="Text 42"/>
          <p:cNvSpPr txBox="1"/>
          <p:nvPr/>
        </p:nvSpPr>
        <p:spPr>
          <a:xfrm>
            <a:off x="6468727" y="2651760"/>
            <a:ext cx="9718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43-78 тыс.</a:t>
            </a:r>
            <a:endParaRPr lang="en-US" sz="1400" dirty="0"/>
          </a:p>
        </p:txBody>
      </p:sp>
      <p:sp>
        <p:nvSpPr>
          <p:cNvPr id="51" name="Text 43"/>
          <p:cNvSpPr txBox="1"/>
          <p:nvPr/>
        </p:nvSpPr>
        <p:spPr>
          <a:xfrm>
            <a:off x="6468727" y="2980944"/>
            <a:ext cx="9718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руб. в год</a:t>
            </a:r>
            <a:endParaRPr lang="en-US" sz="850" dirty="0"/>
          </a:p>
        </p:txBody>
      </p:sp>
      <p:sp>
        <p:nvSpPr>
          <p:cNvPr id="52" name="Shape 44"/>
          <p:cNvSpPr/>
          <p:nvPr/>
        </p:nvSpPr>
        <p:spPr>
          <a:xfrm>
            <a:off x="6596743" y="3364992"/>
            <a:ext cx="715845" cy="0"/>
          </a:xfrm>
          <a:prstGeom prst="line">
            <a:avLst/>
          </a:prstGeom>
          <a:noFill/>
          <a:ln w="12700">
            <a:solidFill>
              <a:srgbClr val="D5DBF5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6487015" y="3456432"/>
            <a:ext cx="9353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Оплачивает лечение, но не организует его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7605195" y="1463040"/>
            <a:ext cx="1081605" cy="2468880"/>
          </a:xfrm>
          <a:prstGeom prst="roundRect">
            <a:avLst>
              <a:gd name="adj" fmla="val 6763"/>
            </a:avLst>
          </a:prstGeom>
          <a:solidFill>
            <a:srgbClr val="EEF1FD"/>
          </a:solidFill>
          <a:ln/>
        </p:spPr>
      </p:sp>
      <p:sp>
        <p:nvSpPr>
          <p:cNvPr id="55" name="Shape 47"/>
          <p:cNvSpPr/>
          <p:nvPr/>
        </p:nvSpPr>
        <p:spPr>
          <a:xfrm>
            <a:off x="7889966" y="162763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6" name="Image 6" descr="/Users/mihailkraynev/Documents/Dev/ingosstrah project/08_presentation/build_source/img/icons/bed-double_blu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2620" y="1740286"/>
            <a:ext cx="286756" cy="286756"/>
          </a:xfrm>
          <a:prstGeom prst="rect">
            <a:avLst/>
          </a:prstGeom>
        </p:spPr>
      </p:pic>
      <p:sp>
        <p:nvSpPr>
          <p:cNvPr id="57" name="Text 48"/>
          <p:cNvSpPr txBox="1"/>
          <p:nvPr/>
        </p:nvSpPr>
        <p:spPr>
          <a:xfrm>
            <a:off x="7641771" y="2240280"/>
            <a:ext cx="100845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Сиделка</a:t>
            </a:r>
            <a:endParaRPr lang="en-US" sz="1050" dirty="0"/>
          </a:p>
        </p:txBody>
      </p:sp>
      <p:sp>
        <p:nvSpPr>
          <p:cNvPr id="58" name="Text 49"/>
          <p:cNvSpPr txBox="1"/>
          <p:nvPr/>
        </p:nvSpPr>
        <p:spPr>
          <a:xfrm>
            <a:off x="7660059" y="2651760"/>
            <a:ext cx="9718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30-72 тыс.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7660059" y="2980944"/>
            <a:ext cx="97187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руб. в месяц</a:t>
            </a:r>
            <a:endParaRPr lang="en-US" sz="850" dirty="0"/>
          </a:p>
        </p:txBody>
      </p:sp>
      <p:sp>
        <p:nvSpPr>
          <p:cNvPr id="60" name="Shape 51"/>
          <p:cNvSpPr/>
          <p:nvPr/>
        </p:nvSpPr>
        <p:spPr>
          <a:xfrm>
            <a:off x="7788075" y="3364992"/>
            <a:ext cx="715845" cy="0"/>
          </a:xfrm>
          <a:prstGeom prst="line">
            <a:avLst/>
          </a:prstGeom>
          <a:noFill/>
          <a:ln w="12700">
            <a:solidFill>
              <a:srgbClr val="D5DBF5"/>
            </a:solidFill>
            <a:prstDash val="solid"/>
          </a:ln>
        </p:spPr>
      </p:sp>
      <p:sp>
        <p:nvSpPr>
          <p:cNvPr id="61" name="Text 52"/>
          <p:cNvSpPr txBox="1"/>
          <p:nvPr/>
        </p:nvSpPr>
        <p:spPr>
          <a:xfrm>
            <a:off x="7678347" y="3456432"/>
            <a:ext cx="93530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Дорого и избыточно</a:t>
            </a:r>
            <a:endParaRPr lang="en-US" sz="900" dirty="0"/>
          </a:p>
        </p:txBody>
      </p:sp>
      <p:sp>
        <p:nvSpPr>
          <p:cNvPr id="62" name="Shape 53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B8F02A"/>
          </a:solidFill>
          <a:ln/>
        </p:spPr>
      </p:sp>
      <p:sp>
        <p:nvSpPr>
          <p:cNvPr id="63" name="Text 54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12-29 раз дешевле сиделки. </a:t>
            </a:r>
            <a:pPr indent="0" marL="0">
              <a:buNone/>
            </a:pPr>
            <a:r>
              <a:rPr lang="en-US" sz="11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ИНГОССЕМЬЯ организует помощь до страхового случая</a:t>
            </a:r>
            <a:endParaRPr lang="en-US" sz="1150" dirty="0"/>
          </a:p>
        </p:txBody>
      </p:sp>
      <p:sp>
        <p:nvSpPr>
          <p:cNvPr id="64" name="Text 55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S6 Peterburg2, 14.08.2026; S7 360.ru, 09.2026; S9 ingos.ru, ДМС 43 050-78 120 руб. в год; S8 Коммерсантъ, 02.09.2026. Цена подписки: допущение, кратность: расчет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Чтобы выйти на 10,7 тыс. семей, нужно 0,52% целевого рынка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777240" y="1143000"/>
            <a:ext cx="3200400" cy="3200400"/>
          </a:xfrm>
          <a:prstGeom prst="ellipse">
            <a:avLst/>
          </a:prstGeom>
          <a:solidFill>
            <a:srgbClr val="EEF1FD"/>
          </a:solidFill>
          <a:ln w="12700">
            <a:solidFill>
              <a:srgbClr val="D5DB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25880" y="2240280"/>
            <a:ext cx="2103120" cy="2103120"/>
          </a:xfrm>
          <a:prstGeom prst="ellipse">
            <a:avLst/>
          </a:prstGeom>
          <a:solidFill>
            <a:srgbClr val="8FA3F0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3383280"/>
            <a:ext cx="960120" cy="960120"/>
          </a:xfrm>
          <a:prstGeom prst="ellipse">
            <a:avLst/>
          </a:prstGeom>
          <a:solidFill>
            <a:srgbClr val="0A2A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344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</a:t>
            </a:r>
            <a:pPr algn="ctr" indent="0" marL="0">
              <a:buNone/>
            </a:pPr>
            <a:r>
              <a:rPr lang="en-US" sz="12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5,85 млн семей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6002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208,2 млрд руб. в год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4231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</a:t>
            </a:r>
            <a:pPr algn="ctr" indent="0" marL="0">
              <a:buNone/>
            </a:pPr>
            <a:r>
              <a:rPr lang="en-US" sz="12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2,05 млн семей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67919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72,9 млрд руб. в год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897380" y="36118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897380" y="38404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10 654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982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SOM: семей через 60 месяцев в базовом сценарии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считали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28032" y="15087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Люди 65+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141464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25,8 млн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10144" y="1563624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0A2A8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10144" y="156362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828032" y="183794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с хроническим заболеванием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141464" y="183794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10144" y="1892808"/>
            <a:ext cx="384048" cy="182880"/>
          </a:xfrm>
          <a:prstGeom prst="roundRect">
            <a:avLst>
              <a:gd name="adj" fmla="val 50000"/>
            </a:avLst>
          </a:prstGeom>
          <a:solidFill>
            <a:srgbClr val="0A2A8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10144" y="189280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факт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21671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живут отдельно от детей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141464" y="216712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10144" y="2221992"/>
            <a:ext cx="676656" cy="182880"/>
          </a:xfrm>
          <a:prstGeom prst="roundRect">
            <a:avLst>
              <a:gd name="adj" fmla="val 50000"/>
            </a:avLst>
          </a:prstGeom>
          <a:solidFill>
            <a:srgbClr val="B8F0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010144" y="2221992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допущение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4828032" y="2496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ребенок работает и координирует сам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141464" y="24963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10144" y="2551176"/>
            <a:ext cx="676656" cy="182880"/>
          </a:xfrm>
          <a:prstGeom prst="roundRect">
            <a:avLst>
              <a:gd name="adj" fmla="val 50000"/>
            </a:avLst>
          </a:prstGeom>
          <a:solidFill>
            <a:srgbClr val="B8F02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10144" y="2551176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допущение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2825496"/>
            <a:ext cx="3931920" cy="292608"/>
          </a:xfrm>
          <a:prstGeom prst="rect">
            <a:avLst/>
          </a:prstGeom>
          <a:solidFill>
            <a:srgbClr val="EEF1F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28032" y="28254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TAM, семей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141464" y="282549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5,85 млн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10144" y="2880360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8FA3F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10144" y="2880360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расчет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4828032" y="31546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города 250 тыс.+, доход позволяет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141464" y="31546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010144" y="3209544"/>
            <a:ext cx="676656" cy="182880"/>
          </a:xfrm>
          <a:prstGeom prst="roundRect">
            <a:avLst>
              <a:gd name="adj" fmla="val 50000"/>
            </a:avLst>
          </a:prstGeom>
          <a:solidFill>
            <a:srgbClr val="B8F02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010144" y="3209544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допущение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54880" y="3483864"/>
            <a:ext cx="3931920" cy="292608"/>
          </a:xfrm>
          <a:prstGeom prst="rect">
            <a:avLst/>
          </a:prstGeom>
          <a:solidFill>
            <a:srgbClr val="EEF1FD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828032" y="34838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SAM, семей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141464" y="34838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2,05 млн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010144" y="3538728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8FA3F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010144" y="353872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расчет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4828032" y="3813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чек 2 965 руб. с льготами x 12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7141464" y="381304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72,9 млрд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010144" y="3867912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8FA3F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010144" y="386791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расчет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4754880" y="4251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доли пока допущения, поэтому это порядок величины. Даже при 40% вместо 60% TAM 3,9 млн семей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S1 Росстат через Демоскоп; S3 Мурашко, 07.2026; доли 60%, 70%, 35%: допущения команды, проверяем анкетой и тестом цены; расчет 05_finance/results.json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Ребенок платит 2 490 руб. в месяц и узнает о проблеме родителя в тот же день</a:t>
            </a:r>
            <a:endParaRPr lang="en-US" sz="2100" dirty="0"/>
          </a:p>
        </p:txBody>
      </p:sp>
      <p:pic>
        <p:nvPicPr>
          <p:cNvPr id="3" name="Image 0" descr="/Users/mihailkraynev/Documents/Dev/ingosstrah project/08_presentation/build_source/img/ph_ev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708" y="1097280"/>
            <a:ext cx="1829224" cy="3520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06252" y="1143000"/>
            <a:ext cx="1097280" cy="576072"/>
          </a:xfrm>
          <a:prstGeom prst="roundRect">
            <a:avLst>
              <a:gd name="adj" fmla="val 12698"/>
            </a:avLst>
          </a:prstGeom>
          <a:solidFill>
            <a:srgbClr val="0A2A8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2606252" y="1143000"/>
            <a:ext cx="1097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3813260" y="1143000"/>
            <a:ext cx="2084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работающих детей, чей пожилой родитель живет отдельно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606252" y="1856232"/>
            <a:ext cx="1097280" cy="576072"/>
          </a:xfrm>
          <a:prstGeom prst="roundRect">
            <a:avLst>
              <a:gd name="adj" fmla="val 12698"/>
            </a:avLst>
          </a:prstGeom>
          <a:solidFill>
            <a:srgbClr val="1E3FD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606252" y="1856232"/>
            <a:ext cx="1097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ИНГОССЕМЬЯ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813260" y="1856232"/>
            <a:ext cx="2084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организует медпомощь родителю и сообщает о каждом шаге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606252" y="2569464"/>
            <a:ext cx="1097280" cy="576072"/>
          </a:xfrm>
          <a:prstGeom prst="roundRect">
            <a:avLst>
              <a:gd name="adj" fmla="val 12698"/>
            </a:avLst>
          </a:prstGeom>
          <a:solidFill>
            <a:srgbClr val="0A2A8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606252" y="2569464"/>
            <a:ext cx="1097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Благодаря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813260" y="2569464"/>
            <a:ext cx="2084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координаторам и врачам Ингосстраха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06252" y="3282696"/>
            <a:ext cx="1097280" cy="576072"/>
          </a:xfrm>
          <a:prstGeom prst="roundRect">
            <a:avLst>
              <a:gd name="adj" fmla="val 12698"/>
            </a:avLst>
          </a:prstGeom>
          <a:solidFill>
            <a:srgbClr val="0A2A8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606252" y="3282696"/>
            <a:ext cx="1097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отличие от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3813260" y="3282696"/>
            <a:ext cx="2084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звонков «на нервах» и сиделки за 30-72 тыс. руб.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606252" y="3995928"/>
            <a:ext cx="1097280" cy="576072"/>
          </a:xfrm>
          <a:prstGeom prst="roundRect">
            <a:avLst>
              <a:gd name="adj" fmla="val 12698"/>
            </a:avLst>
          </a:prstGeom>
          <a:solidFill>
            <a:srgbClr val="0A2A8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606252" y="3995928"/>
            <a:ext cx="1097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Ребенок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813260" y="3995928"/>
            <a:ext cx="2084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тратит меньше времени и узнает о проблемах вовремя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172412" y="1143000"/>
            <a:ext cx="2514388" cy="899160"/>
          </a:xfrm>
          <a:prstGeom prst="roundRect">
            <a:avLst>
              <a:gd name="adj" fmla="val 8136"/>
            </a:avLst>
          </a:prstGeom>
          <a:solidFill>
            <a:srgbClr val="EEF1FD"/>
          </a:solidFill>
          <a:ln/>
        </p:spPr>
      </p:sp>
      <p:sp>
        <p:nvSpPr>
          <p:cNvPr id="20" name="Shape 17"/>
          <p:cNvSpPr/>
          <p:nvPr/>
        </p:nvSpPr>
        <p:spPr>
          <a:xfrm>
            <a:off x="6309572" y="13639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1" descr="/Users/mihailkraynev/Documents/Dev/ingosstrah project/08_presentation/build_source/img/icons/hand-coin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156" y="1464564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885644" y="1234440"/>
            <a:ext cx="1709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12-29 раз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6885644" y="1600200"/>
            <a:ext cx="170971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дешевле сиделки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172412" y="2225040"/>
            <a:ext cx="2514388" cy="899160"/>
          </a:xfrm>
          <a:prstGeom prst="roundRect">
            <a:avLst>
              <a:gd name="adj" fmla="val 8136"/>
            </a:avLst>
          </a:prstGeom>
          <a:solidFill>
            <a:srgbClr val="EEF1FD"/>
          </a:solidFill>
          <a:ln/>
        </p:spPr>
      </p:sp>
      <p:sp>
        <p:nvSpPr>
          <p:cNvPr id="25" name="Shape 21"/>
          <p:cNvSpPr/>
          <p:nvPr/>
        </p:nvSpPr>
        <p:spPr>
          <a:xfrm>
            <a:off x="6309572" y="24460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2" descr="/Users/mihailkraynev/Documents/Dev/ingosstrah project/08_presentation/build_source/img/icons/bell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156" y="2546604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885644" y="2316480"/>
            <a:ext cx="1709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тот же день</a:t>
            </a:r>
            <a:endParaRPr lang="en-US" sz="1700" dirty="0"/>
          </a:p>
        </p:txBody>
      </p:sp>
      <p:sp>
        <p:nvSpPr>
          <p:cNvPr id="28" name="Text 23"/>
          <p:cNvSpPr txBox="1"/>
          <p:nvPr/>
        </p:nvSpPr>
        <p:spPr>
          <a:xfrm>
            <a:off x="6885644" y="2682240"/>
            <a:ext cx="170971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узнает о пропуске лекарства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172412" y="3307080"/>
            <a:ext cx="2514388" cy="899160"/>
          </a:xfrm>
          <a:prstGeom prst="roundRect">
            <a:avLst>
              <a:gd name="adj" fmla="val 8136"/>
            </a:avLst>
          </a:prstGeom>
          <a:solidFill>
            <a:srgbClr val="EEF1FD"/>
          </a:solidFill>
          <a:ln/>
        </p:spPr>
      </p:sp>
      <p:sp>
        <p:nvSpPr>
          <p:cNvPr id="30" name="Shape 25"/>
          <p:cNvSpPr/>
          <p:nvPr/>
        </p:nvSpPr>
        <p:spPr>
          <a:xfrm>
            <a:off x="6309572" y="35280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3" descr="/Users/mihailkraynev/Documents/Dev/ingosstrah project/08_presentation/build_source/img/icons/phone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156" y="3628644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885644" y="3398520"/>
            <a:ext cx="1709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номер</a:t>
            </a:r>
            <a:endParaRPr lang="en-US" sz="1700" dirty="0"/>
          </a:p>
        </p:txBody>
      </p:sp>
      <p:sp>
        <p:nvSpPr>
          <p:cNvPr id="33" name="Text 27"/>
          <p:cNvSpPr txBox="1"/>
          <p:nvPr/>
        </p:nvSpPr>
        <p:spPr>
          <a:xfrm>
            <a:off x="6885644" y="3764280"/>
            <a:ext cx="1709716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вместо регистратуры и аптеки</a:t>
            </a:r>
            <a:endParaRPr lang="en-US" sz="950" dirty="0"/>
          </a:p>
        </p:txBody>
      </p:sp>
      <p:sp>
        <p:nvSpPr>
          <p:cNvPr id="34" name="Text 28"/>
          <p:cNvSpPr txBox="1"/>
          <p:nvPr/>
        </p:nvSpPr>
        <p:spPr>
          <a:xfrm>
            <a:off x="6172412" y="4297680"/>
            <a:ext cx="2514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Родитель сам решает, что видит ребенок</a:t>
            </a:r>
            <a:endParaRPr lang="en-US" sz="1050" dirty="0"/>
          </a:p>
        </p:txBody>
      </p:sp>
      <p:sp>
        <p:nvSpPr>
          <p:cNvPr id="35" name="Text 29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формула ценностного предложения из материалов кейса; цена 2 490 руб.: допущение, проверяем тестом цены; сиделка: S6, S7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из 7 шагов опирается на системы, которые у Ингосстраха уже работают</a:t>
            </a:r>
            <a:endParaRPr lang="en-US" sz="2100" dirty="0"/>
          </a:p>
        </p:txBody>
      </p:sp>
      <p:pic>
        <p:nvPicPr>
          <p:cNvPr id="3" name="Image 0" descr="/Users/mihailkraynev/Documents/Dev/ingosstrah project/08_presentation/build_source/img/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694" y="1051560"/>
            <a:ext cx="7718612" cy="3520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сервисный сценарий команды, 07_docs/diagrams/Пользовательский_сценарий; нагрузка 48,3 минуты на семью: расчет финмодели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Ребенок видит ленту событий в мини-приложении MAX и в личном кабинете на компьютере</a:t>
            </a:r>
            <a:endParaRPr lang="en-US" sz="2100" dirty="0"/>
          </a:p>
        </p:txBody>
      </p:sp>
      <p:pic>
        <p:nvPicPr>
          <p:cNvPr id="3" name="Image 0" descr="/Users/mihailkraynev/Documents/Dev/ingosstrah project/08_presentation/build_source/img/desk_fe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818" y="1143000"/>
            <a:ext cx="4531643" cy="3108960"/>
          </a:xfrm>
          <a:prstGeom prst="rect">
            <a:avLst/>
          </a:prstGeom>
        </p:spPr>
      </p:pic>
      <p:pic>
        <p:nvPicPr>
          <p:cNvPr id="4" name="Image 1" descr="/Users/mihailkraynev/Documents/Dev/ingosstrah project/08_presentation/build_source/img/ph_fe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9347" y="1143000"/>
            <a:ext cx="1615419" cy="3108960"/>
          </a:xfrm>
          <a:prstGeom prst="rect">
            <a:avLst/>
          </a:prstGeom>
        </p:spPr>
      </p:pic>
      <p:pic>
        <p:nvPicPr>
          <p:cNvPr id="5" name="Image 2" descr="/Users/mihailkraynev/Documents/Dev/ingosstrah project/08_presentation/build_source/img/ph_summ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656" y="1143000"/>
            <a:ext cx="1615419" cy="310896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77378" y="4297680"/>
            <a:ext cx="47145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Личный кабинет на компьютере</a:t>
            </a:r>
            <a:endParaRPr lang="en-US" sz="1000" dirty="0"/>
          </a:p>
        </p:txBody>
      </p:sp>
      <p:sp>
        <p:nvSpPr>
          <p:cNvPr id="7" name="Text 2"/>
          <p:cNvSpPr txBox="1"/>
          <p:nvPr/>
        </p:nvSpPr>
        <p:spPr>
          <a:xfrm>
            <a:off x="5177907" y="4297680"/>
            <a:ext cx="17982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Лента событий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6948216" y="4297680"/>
            <a:ext cx="17982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Месячная сводка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кликабельный прототип 06_prototype/Прототип_ИНГОССЕМЬЯ.html, режимы «Телефон» и «Компьютер»; данные семей вымышленные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Координатор ведет 128 семьи в одном окне: очередь, скрипт звонка и отчет</a:t>
            </a:r>
            <a:endParaRPr lang="en-US" sz="2100" dirty="0"/>
          </a:p>
        </p:txBody>
      </p:sp>
      <p:pic>
        <p:nvPicPr>
          <p:cNvPr id="3" name="Image 0" descr="/Users/mihailkraynev/Documents/Dev/ingosstrah project/08_presentation/build_source/img/coo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613" y="1143000"/>
            <a:ext cx="4989814" cy="3429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786747" y="1143000"/>
            <a:ext cx="290005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семьи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786747" y="1673352"/>
            <a:ext cx="290005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координатора на Базовом тарифе, 48,3 мин на семью в месяц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786747" y="2130552"/>
            <a:ext cx="475488" cy="182880"/>
          </a:xfrm>
          <a:prstGeom prst="roundRect">
            <a:avLst>
              <a:gd name="adj" fmla="val 50000"/>
            </a:avLst>
          </a:prstGeom>
          <a:solidFill>
            <a:srgbClr val="8FA3F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786747" y="213055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расчет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786747" y="2514600"/>
            <a:ext cx="457200" cy="45720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9" name="Image 1" descr="/Users/mihailkraynev/Documents/Dev/ingosstrah project/08_presentation/build_source/img/icons/list-checks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7331" y="261518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81107" y="2514600"/>
            <a:ext cx="23056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Очередь по срочности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6381107" y="2770632"/>
            <a:ext cx="23056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красные флаги робота сверху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786747" y="3291840"/>
            <a:ext cx="457200" cy="45720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13" name="Image 2" descr="/Users/mihailkraynev/Documents/Dev/ingosstrah project/08_presentation/build_source/img/icons/phone-call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331" y="339242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81107" y="3291840"/>
            <a:ext cx="23056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Скрипт звонка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6381107" y="3547872"/>
            <a:ext cx="23056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пунктов, врач по кнопке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786747" y="4069080"/>
            <a:ext cx="457200" cy="45720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17" name="Image 3" descr="/Users/mihailkraynev/Documents/Dev/ingosstrah project/08_presentation/build_source/img/icons/send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7331" y="416966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381107" y="4069080"/>
            <a:ext cx="230569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Отчет ребенку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6381107" y="4325112"/>
            <a:ext cx="23056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собирается сам, отправка в 1 клик</a:t>
            </a:r>
            <a:endParaRPr lang="en-US" sz="95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кликабельный прототип 06_prototype/Прототип_ИНГОССЕМЬЯ.html, режим «Координатор»; нагрузка: расчет финмодели; данные семей вымышленные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Почти все блоки сервиса у Ингосстраха уже есть: стартап не соберет их за 3 месяца и 5 млн руб.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621280" cy="1051560"/>
          </a:xfrm>
          <a:prstGeom prst="roundRect">
            <a:avLst>
              <a:gd name="adj" fmla="val 6957"/>
            </a:avLst>
          </a:prstGeom>
          <a:solidFill>
            <a:srgbClr val="EEF1FD"/>
          </a:solidFill>
          <a:ln/>
        </p:spPr>
      </p:sp>
      <p:sp>
        <p:nvSpPr>
          <p:cNvPr id="4" name="Shape 2"/>
          <p:cNvSpPr/>
          <p:nvPr/>
        </p:nvSpPr>
        <p:spPr>
          <a:xfrm>
            <a:off x="621792" y="13853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/Users/mihailkraynev/Documents/Dev/ingosstrah project/08_presentation/build_source/img/icons/heads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516" y="1510040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07592"/>
            <a:ext cx="161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Медицинский контакт-центр ДМС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728216"/>
            <a:ext cx="161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уже записывает к врачам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61360" y="1143000"/>
            <a:ext cx="2621280" cy="1051560"/>
          </a:xfrm>
          <a:prstGeom prst="roundRect">
            <a:avLst>
              <a:gd name="adj" fmla="val 6957"/>
            </a:avLst>
          </a:prstGeom>
          <a:solidFill>
            <a:srgbClr val="EEF1FD"/>
          </a:solidFill>
          <a:ln/>
        </p:spPr>
      </p:sp>
      <p:sp>
        <p:nvSpPr>
          <p:cNvPr id="9" name="Shape 6"/>
          <p:cNvSpPr/>
          <p:nvPr/>
        </p:nvSpPr>
        <p:spPr>
          <a:xfrm>
            <a:off x="3425952" y="13853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/Users/mihailkraynev/Documents/Dev/ingosstrah project/08_presentation/build_source/img/icons/hospital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676" y="1510040"/>
            <a:ext cx="317480" cy="317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30040" y="1307592"/>
            <a:ext cx="161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Клиники ДМС, ЛМС, «Будь здоров»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130040" y="1728216"/>
            <a:ext cx="161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прием, анализы, медсестра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065520" y="1143000"/>
            <a:ext cx="2621280" cy="1051560"/>
          </a:xfrm>
          <a:prstGeom prst="roundRect">
            <a:avLst>
              <a:gd name="adj" fmla="val 6957"/>
            </a:avLst>
          </a:prstGeom>
          <a:solidFill>
            <a:srgbClr val="EEF1FD"/>
          </a:solidFill>
          <a:ln/>
        </p:spPr>
      </p:sp>
      <p:sp>
        <p:nvSpPr>
          <p:cNvPr id="14" name="Shape 10"/>
          <p:cNvSpPr/>
          <p:nvPr/>
        </p:nvSpPr>
        <p:spPr>
          <a:xfrm>
            <a:off x="6230112" y="13853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/Users/mihailkraynev/Documents/Dev/ingosstrah project/08_presentation/build_source/img/icons/video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836" y="1510040"/>
            <a:ext cx="317480" cy="317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34200" y="1307592"/>
            <a:ext cx="161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Телемедицина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6934200" y="1728216"/>
            <a:ext cx="161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медицинскую оценку дает врач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457200" y="2377440"/>
            <a:ext cx="2621280" cy="1051560"/>
          </a:xfrm>
          <a:prstGeom prst="roundRect">
            <a:avLst>
              <a:gd name="adj" fmla="val 6957"/>
            </a:avLst>
          </a:prstGeom>
          <a:solidFill>
            <a:srgbClr val="EEF1FD"/>
          </a:solidFill>
          <a:ln/>
        </p:spPr>
      </p:sp>
      <p:sp>
        <p:nvSpPr>
          <p:cNvPr id="19" name="Shape 14"/>
          <p:cNvSpPr/>
          <p:nvPr/>
        </p:nvSpPr>
        <p:spPr>
          <a:xfrm>
            <a:off x="621792" y="261975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/Users/mihailkraynev/Documents/Dev/ingosstrah project/08_presentation/build_source/img/icons/file-tex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16" y="2744480"/>
            <a:ext cx="317480" cy="317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2542032"/>
            <a:ext cx="161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МедРокет и IngoRead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1325880" y="2962656"/>
            <a:ext cx="161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клиник и разбор выписок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3261360" y="2377440"/>
            <a:ext cx="2621280" cy="1051560"/>
          </a:xfrm>
          <a:prstGeom prst="roundRect">
            <a:avLst>
              <a:gd name="adj" fmla="val 6957"/>
            </a:avLst>
          </a:prstGeom>
          <a:solidFill>
            <a:srgbClr val="EEF1FD"/>
          </a:solidFill>
          <a:ln/>
        </p:spPr>
      </p:sp>
      <p:sp>
        <p:nvSpPr>
          <p:cNvPr id="24" name="Shape 18"/>
          <p:cNvSpPr/>
          <p:nvPr/>
        </p:nvSpPr>
        <p:spPr>
          <a:xfrm>
            <a:off x="3425952" y="261975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/Users/mihailkraynev/Documents/Dev/ingosstrah project/08_presentation/build_source/img/icons/bot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0676" y="2744480"/>
            <a:ext cx="317480" cy="3174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30040" y="2542032"/>
            <a:ext cx="161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Роботизация контакт-центра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4130040" y="2962656"/>
            <a:ext cx="161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 ежедневного звонка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6065520" y="2377440"/>
            <a:ext cx="2621280" cy="1051560"/>
          </a:xfrm>
          <a:prstGeom prst="roundRect">
            <a:avLst>
              <a:gd name="adj" fmla="val 6957"/>
            </a:avLst>
          </a:prstGeom>
          <a:solidFill>
            <a:srgbClr val="EEF1FD"/>
          </a:solidFill>
          <a:ln/>
        </p:spPr>
      </p:sp>
      <p:sp>
        <p:nvSpPr>
          <p:cNvPr id="29" name="Shape 22"/>
          <p:cNvSpPr/>
          <p:nvPr/>
        </p:nvSpPr>
        <p:spPr>
          <a:xfrm>
            <a:off x="6230112" y="261975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/Users/mihailkraynev/Documents/Dev/ingosstrah project/08_presentation/build_source/img/icons/shield-check_blu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4836" y="2744480"/>
            <a:ext cx="317480" cy="3174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34200" y="2542032"/>
            <a:ext cx="1615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B2B2C и доверие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6934200" y="2962656"/>
            <a:ext cx="161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 ДМС, ruAAA, с 1947 года</a:t>
            </a:r>
            <a:endParaRPr lang="en-US" sz="950" dirty="0"/>
          </a:p>
        </p:txBody>
      </p:sp>
      <p:sp>
        <p:nvSpPr>
          <p:cNvPr id="33" name="Shape 25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A2A8A"/>
          </a:solidFill>
          <a:ln/>
        </p:spPr>
      </p:sp>
      <p:sp>
        <p:nvSpPr>
          <p:cNvPr id="34" name="Shape 26"/>
          <p:cNvSpPr/>
          <p:nvPr/>
        </p:nvSpPr>
        <p:spPr>
          <a:xfrm>
            <a:off x="640080" y="3863340"/>
            <a:ext cx="457200" cy="457200"/>
          </a:xfrm>
          <a:prstGeom prst="ellipse">
            <a:avLst/>
          </a:prstGeom>
          <a:solidFill>
            <a:srgbClr val="1E3FD8"/>
          </a:solidFill>
          <a:ln/>
        </p:spPr>
      </p:sp>
      <p:pic>
        <p:nvPicPr>
          <p:cNvPr id="35" name="Image 6" descr="/Users/mihailkraynev/Documents/Dev/ingosstrah project/08_presentation/build_source/img/icons/smartphone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" y="3963924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234440" y="3611880"/>
            <a:ext cx="7269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Честное ограничение.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IngoMobile нет в Google Play и App Store, а иностранные мессенджеры для финорганизаций запрещены (41-ФЗ). Поэтому MVP идет через MAX, СМС и звонки</a:t>
            </a:r>
            <a:endParaRPr lang="en-US" sz="1050" dirty="0"/>
          </a:p>
        </p:txBody>
      </p:sp>
      <p:sp>
        <p:nvSpPr>
          <p:cNvPr id="37" name="Text 28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S9 ingos.ru; S12 МедРокет, 11.2025; S11 Эксперт РА, 02.12.2025; S14 RuStore; S15 Habr; клиники и IngoRead по ресерчу команды; CX World Awards 2025 по материалам кейса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Особые условия для ветеранов СВО и ветеранов: льготы, навигатор и партнерство с фондом «Защитники Отечества»</a:t>
            </a:r>
            <a:endParaRPr lang="en-US" sz="2100" dirty="0"/>
          </a:p>
        </p:txBody>
      </p:sp>
      <p:pic>
        <p:nvPicPr>
          <p:cNvPr id="3" name="Image 0" descr="/Users/mihailkraynev/Documents/Dev/ingosstrah project/08_presentation/build_source/img/ph_tari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708" y="1097280"/>
            <a:ext cx="1829224" cy="3520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06252" y="1143000"/>
            <a:ext cx="1623060" cy="777240"/>
          </a:xfrm>
          <a:prstGeom prst="roundRect">
            <a:avLst>
              <a:gd name="adj" fmla="val 9412"/>
            </a:avLst>
          </a:prstGeom>
          <a:solidFill>
            <a:srgbClr val="0A2A8A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2734268" y="1216152"/>
            <a:ext cx="136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Бесплатно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2734268" y="1563624"/>
            <a:ext cx="1367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Родители погибших участников СВО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366472" y="1143000"/>
            <a:ext cx="1623060" cy="777240"/>
          </a:xfrm>
          <a:prstGeom prst="roundRect">
            <a:avLst>
              <a:gd name="adj" fmla="val 9412"/>
            </a:avLst>
          </a:prstGeom>
          <a:solidFill>
            <a:srgbClr val="EEF1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494488" y="1216152"/>
            <a:ext cx="136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-50%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494488" y="1563624"/>
            <a:ext cx="1367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Участники СВО на службе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252" y="2057400"/>
            <a:ext cx="1623060" cy="777240"/>
          </a:xfrm>
          <a:prstGeom prst="roundRect">
            <a:avLst>
              <a:gd name="adj" fmla="val 9412"/>
            </a:avLst>
          </a:prstGeom>
          <a:solidFill>
            <a:srgbClr val="EEF1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34268" y="2130552"/>
            <a:ext cx="136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-30%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2734268" y="2478024"/>
            <a:ext cx="1367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Ветераны боевых действий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366472" y="2057400"/>
            <a:ext cx="1623060" cy="777240"/>
          </a:xfrm>
          <a:prstGeom prst="roundRect">
            <a:avLst>
              <a:gd name="adj" fmla="val 9412"/>
            </a:avLst>
          </a:prstGeom>
          <a:solidFill>
            <a:srgbClr val="EEF1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494488" y="2130552"/>
            <a:ext cx="1367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-10%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494488" y="2478024"/>
            <a:ext cx="13670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Родитель ветеран ВОВ или труда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2606252" y="2971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только скидка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606252" y="3291840"/>
            <a:ext cx="347472" cy="347472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18" name="Image 1" descr="/Users/mihailkraynev/Documents/Dev/ingosstrah project/08_presentation/build_source/img/icons/route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2696" y="3368284"/>
            <a:ext cx="194584" cy="19458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063452" y="3291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Навигатор льгот: внеочередная помощь, лекарства, санаторий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2606252" y="3703320"/>
            <a:ext cx="347472" cy="347472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21" name="Image 2" descr="/Users/mihailkraynev/Documents/Dev/ingosstrah project/08_presentation/build_source/img/icons/brain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2696" y="3779764"/>
            <a:ext cx="194584" cy="19458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063452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Отдельная линия координаторов и психолог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2606252" y="4114800"/>
            <a:ext cx="347472" cy="347472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24" name="Image 3" descr="/Users/mihailkraynev/Documents/Dev/ingosstrah project/08_presentation/build_source/img/icons/id-card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2696" y="4191244"/>
            <a:ext cx="194584" cy="19458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3063452" y="41148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по удостоверению, копии не храним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6218132" y="1143000"/>
            <a:ext cx="2468668" cy="3429000"/>
          </a:xfrm>
          <a:prstGeom prst="roundRect">
            <a:avLst>
              <a:gd name="adj" fmla="val 2963"/>
            </a:avLst>
          </a:prstGeom>
          <a:solidFill>
            <a:srgbClr val="0A2A8A"/>
          </a:solidFill>
          <a:ln/>
        </p:spPr>
      </p:sp>
      <p:sp>
        <p:nvSpPr>
          <p:cNvPr id="27" name="Shape 21"/>
          <p:cNvSpPr/>
          <p:nvPr/>
        </p:nvSpPr>
        <p:spPr>
          <a:xfrm>
            <a:off x="6382724" y="1307592"/>
            <a:ext cx="457200" cy="457200"/>
          </a:xfrm>
          <a:prstGeom prst="ellipse">
            <a:avLst/>
          </a:prstGeom>
          <a:solidFill>
            <a:srgbClr val="1E3FD8"/>
          </a:solidFill>
          <a:ln/>
        </p:spPr>
      </p:sp>
      <p:pic>
        <p:nvPicPr>
          <p:cNvPr id="28" name="Image 4" descr="/Users/mihailkraynev/Documents/Dev/ingosstrah project/08_presentation/build_source/img/icons/heart-handshake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308" y="1408176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6949652" y="1271016"/>
            <a:ext cx="15999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Фонд «Защитники Отечества»: партнер, а не конкурент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6382724" y="1965960"/>
            <a:ext cx="21394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4 500+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6382724" y="2313432"/>
            <a:ext cx="21394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FA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социальных координаторов фонда</a:t>
            </a:r>
            <a:endParaRPr lang="en-US" sz="850" dirty="0"/>
          </a:p>
        </p:txBody>
      </p:sp>
      <p:sp>
        <p:nvSpPr>
          <p:cNvPr id="32" name="Text 25"/>
          <p:cNvSpPr txBox="1"/>
          <p:nvPr/>
        </p:nvSpPr>
        <p:spPr>
          <a:xfrm>
            <a:off x="6382724" y="2834640"/>
            <a:ext cx="21394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4,8%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6382724" y="3182112"/>
            <a:ext cx="21394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FA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скидка, 46,8 млн руб. за 60 мес уже в модели</a:t>
            </a:r>
            <a:endParaRPr lang="en-US" sz="850" dirty="0"/>
          </a:p>
        </p:txBody>
      </p:sp>
      <p:sp>
        <p:nvSpPr>
          <p:cNvPr id="34" name="Text 27"/>
          <p:cNvSpPr txBox="1"/>
          <p:nvPr/>
        </p:nvSpPr>
        <p:spPr>
          <a:xfrm>
            <a:off x="6382724" y="3703320"/>
            <a:ext cx="21394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семей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6382724" y="4050792"/>
            <a:ext cx="21394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FA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месяц через фонд с 6-го месяца, проверяем H6</a:t>
            </a:r>
            <a:endParaRPr lang="en-US" sz="850" dirty="0"/>
          </a:p>
        </p:txBody>
      </p:sp>
      <p:sp>
        <p:nvSpPr>
          <p:cNvPr id="36" name="Text 29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S28 83-ФЗ от 21.04.2025 (Гарант); S29 ВЗГЛЯД, 01.06.2026; S30 ТВ Звезда, А. Цивилева; доли и скидки: допущения команды; Финансовая_модель_ИНГОССЕМЬЯ.xlsx, лист «Льготы ветеранам»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Деньги приходят из подписки, опции к ДМС и комиссий, а экономику решают три параметра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66928" cy="566928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4" name="Image 0" descr="/Users/mihailkraynev/Documents/Dev/ingosstrah project/08_presentation/build_source/img/icons/wallet_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924" y="1267724"/>
            <a:ext cx="317480" cy="317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15568" y="1161288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Платит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1115568" y="141732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ребенок или работодатель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295144" y="1426464"/>
            <a:ext cx="256032" cy="0"/>
          </a:xfrm>
          <a:prstGeom prst="line">
            <a:avLst/>
          </a:prstGeom>
          <a:noFill/>
          <a:ln w="19050">
            <a:solidFill>
              <a:srgbClr val="8FA3F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606040" y="1143000"/>
            <a:ext cx="566928" cy="566928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9" name="Image 1" descr="/Users/mihailkraynev/Documents/Dev/ingosstrah project/08_presentation/build_source/img/icons/landmark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764" y="1267724"/>
            <a:ext cx="317480" cy="317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64408" y="1161288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Продает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3264408" y="141732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сервисная компания группы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443984" y="1426464"/>
            <a:ext cx="256032" cy="0"/>
          </a:xfrm>
          <a:prstGeom prst="line">
            <a:avLst/>
          </a:prstGeom>
          <a:noFill/>
          <a:ln w="19050">
            <a:solidFill>
              <a:srgbClr val="8FA3F0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4754880" y="1143000"/>
            <a:ext cx="566928" cy="566928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14" name="Image 2" descr="/Users/mihailkraynev/Documents/Dev/ingosstrah project/08_presentation/build_source/img/icons/headset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604" y="1267724"/>
            <a:ext cx="317480" cy="317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413248" y="1161288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Делает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5413248" y="141732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координатор, робот, врачи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592824" y="1426464"/>
            <a:ext cx="256032" cy="0"/>
          </a:xfrm>
          <a:prstGeom prst="line">
            <a:avLst/>
          </a:prstGeom>
          <a:noFill/>
          <a:ln w="19050">
            <a:solidFill>
              <a:srgbClr val="8FA3F0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6903720" y="1143000"/>
            <a:ext cx="566928" cy="566928"/>
          </a:xfrm>
          <a:prstGeom prst="ellipse">
            <a:avLst/>
          </a:prstGeom>
          <a:solidFill>
            <a:srgbClr val="B8F02A"/>
          </a:solidFill>
          <a:ln/>
        </p:spPr>
      </p:sp>
      <p:pic>
        <p:nvPicPr>
          <p:cNvPr id="19" name="Image 3" descr="/Users/mihailkraynev/Documents/Dev/ingosstrah project/08_presentation/build_source/img/icons/user-roun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8444" y="1267724"/>
            <a:ext cx="317480" cy="31748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562088" y="1161288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Получает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7562088" y="141732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родитель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19842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дохода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1920240" y="2020824"/>
            <a:ext cx="676656" cy="182880"/>
          </a:xfrm>
          <a:prstGeom prst="roundRect">
            <a:avLst>
              <a:gd name="adj" fmla="val 50000"/>
            </a:avLst>
          </a:prstGeom>
          <a:solidFill>
            <a:srgbClr val="B8F02A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1920240" y="2020824"/>
            <a:ext cx="676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допущение</a:t>
            </a:r>
            <a:endParaRPr lang="en-US" sz="800" dirty="0"/>
          </a:p>
        </p:txBody>
      </p:sp>
      <p:sp>
        <p:nvSpPr>
          <p:cNvPr id="25" name="Shape 19"/>
          <p:cNvSpPr/>
          <p:nvPr/>
        </p:nvSpPr>
        <p:spPr>
          <a:xfrm>
            <a:off x="457200" y="23317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EF1FD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585216" y="24048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2 490 руб./мес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585216" y="277063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Базовый тариф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2560320" y="23317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EF1FD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2688336" y="24048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4 990 руб./мес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2688336" y="277063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Расширенный тариф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4663440" y="23317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EF1FD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4791456" y="24048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1 990 руб./мес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4791456" y="277063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опция к корпоративному ДМС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6766560" y="233172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EEF1FD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894576" y="24048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6894576" y="2770632"/>
            <a:ext cx="1664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комиссия с услуг партнеров</a:t>
            </a:r>
            <a:endParaRPr lang="en-US" sz="950" dirty="0"/>
          </a:p>
        </p:txBody>
      </p:sp>
      <p:sp>
        <p:nvSpPr>
          <p:cNvPr id="37" name="Text 31"/>
          <p:cNvSpPr txBox="1"/>
          <p:nvPr/>
        </p:nvSpPr>
        <p:spPr>
          <a:xfrm>
            <a:off x="457200" y="33649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ключевых параметра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57200" y="3675888"/>
            <a:ext cx="2621280" cy="896112"/>
          </a:xfrm>
          <a:prstGeom prst="roundRect">
            <a:avLst>
              <a:gd name="adj" fmla="val 8163"/>
            </a:avLst>
          </a:prstGeom>
          <a:solidFill>
            <a:srgbClr val="0A2A8A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603504" y="3675888"/>
            <a:ext cx="1417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семьи</a:t>
            </a:r>
            <a:endParaRPr lang="en-US" sz="1600" dirty="0"/>
          </a:p>
        </p:txBody>
      </p:sp>
      <p:sp>
        <p:nvSpPr>
          <p:cNvPr id="40" name="Text 34"/>
          <p:cNvSpPr txBox="1"/>
          <p:nvPr/>
        </p:nvSpPr>
        <p:spPr>
          <a:xfrm>
            <a:off x="2011680" y="3675888"/>
            <a:ext cx="92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координатора (48,3 мин на семью)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3261360" y="3675888"/>
            <a:ext cx="2621280" cy="896112"/>
          </a:xfrm>
          <a:prstGeom prst="roundRect">
            <a:avLst>
              <a:gd name="adj" fmla="val 8163"/>
            </a:avLst>
          </a:prstGeom>
          <a:solidFill>
            <a:srgbClr val="0A2A8A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3407664" y="3675888"/>
            <a:ext cx="1417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3 896 руб.</a:t>
            </a:r>
            <a:endParaRPr lang="en-US" sz="1600" dirty="0"/>
          </a:p>
        </p:txBody>
      </p:sp>
      <p:sp>
        <p:nvSpPr>
          <p:cNvPr id="43" name="Text 37"/>
          <p:cNvSpPr txBox="1"/>
          <p:nvPr/>
        </p:nvSpPr>
        <p:spPr>
          <a:xfrm>
            <a:off x="4815840" y="3675888"/>
            <a:ext cx="92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в смеси каналов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065520" y="3675888"/>
            <a:ext cx="2621280" cy="896112"/>
          </a:xfrm>
          <a:prstGeom prst="roundRect">
            <a:avLst>
              <a:gd name="adj" fmla="val 8163"/>
            </a:avLst>
          </a:prstGeom>
          <a:solidFill>
            <a:srgbClr val="0A2A8A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6211824" y="3675888"/>
            <a:ext cx="1417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и 6%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7620000" y="3675888"/>
            <a:ext cx="929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отток в 1-й месяц и дальше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Финансовая_модель_ИНГОССЕМЬЯ.xlsx, базовый сценарий; НДС 22% по 425-ФЗ учтен в ARPU; подписку продает сервисная компания группы (ст. 6 закона 4015-1), схему подтверждает юрист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Робот-триаж перевернул юнит-экономику: с минус 515 до плюс 862 руб. с семьи в месяц</a:t>
            </a:r>
            <a:endParaRPr lang="en-US" sz="21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89120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Маржинальный доход = выручка без НДС с учетом льгот ветеранам + комиссия партнеров - затраты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5577840" y="1143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поменяли в продукте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577840" y="1508760"/>
            <a:ext cx="384048" cy="384048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7" name="Image 0" descr="/Users/mihailkraynev/Documents/Dev/ingosstrah project/08_presentation/build_source/img/icons/bot_blu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2331" y="1593251"/>
            <a:ext cx="215067" cy="21506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080760" y="150876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Триаж: </a:t>
            </a:r>
            <a:pPr indent="0" marL="0">
              <a:buNone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 каждый день, человек по флагу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577840" y="2039112"/>
            <a:ext cx="384048" cy="384048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10" name="Image 1" descr="/Users/mihailkraynev/Documents/Dev/ingosstrah project/08_presentation/build_source/img/icons/building-2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2331" y="2123603"/>
            <a:ext cx="215067" cy="21506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80760" y="2039112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Регион: </a:t>
            </a:r>
            <a:pPr indent="0" marL="0">
              <a:buNone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контакт-центр, зарплата 70 тыс. руб.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5577840" y="2569464"/>
            <a:ext cx="384048" cy="384048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13" name="Image 2" descr="/Users/mihailkraynev/Documents/Dev/ingosstrah project/08_presentation/build_source/img/icons/wallet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2331" y="2653955"/>
            <a:ext cx="215067" cy="21506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080760" y="2569464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Цена: </a:t>
            </a:r>
            <a:pPr indent="0" marL="0">
              <a:buNone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2 490 и 4 990 вместо 1 990 и 3 990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5577840" y="3246120"/>
            <a:ext cx="975360" cy="1325880"/>
          </a:xfrm>
          <a:prstGeom prst="roundRect">
            <a:avLst>
              <a:gd name="adj" fmla="val 7500"/>
            </a:avLst>
          </a:prstGeom>
          <a:solidFill>
            <a:srgbClr val="EEF1FD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5614416" y="3383280"/>
            <a:ext cx="902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5632704" y="3886200"/>
            <a:ext cx="865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LTV/CAC (было -1,78)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6644640" y="3246120"/>
            <a:ext cx="975360" cy="1325880"/>
          </a:xfrm>
          <a:prstGeom prst="roundRect">
            <a:avLst>
              <a:gd name="adj" fmla="val 7500"/>
            </a:avLst>
          </a:prstGeom>
          <a:solidFill>
            <a:srgbClr val="EEF1FD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6681216" y="3383280"/>
            <a:ext cx="902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4,5 мес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6699504" y="3886200"/>
            <a:ext cx="865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окупаемость CAC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7711440" y="3246120"/>
            <a:ext cx="975360" cy="1325880"/>
          </a:xfrm>
          <a:prstGeom prst="roundRect">
            <a:avLst>
              <a:gd name="adj" fmla="val 7500"/>
            </a:avLst>
          </a:prstGeom>
          <a:solidFill>
            <a:srgbClr val="EEF1FD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748016" y="3383280"/>
            <a:ext cx="902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33,8%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766304" y="3886200"/>
            <a:ext cx="865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маржи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Финансовая_модель_ИНГОССЕМЬЯ.xlsx, юнит-экономика базового сценария и версии 1; все значения: расчет модели с учетом льгот ветеранам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Базовый сценарий окупается на 43-м месяце, но за 3 года NPV еще отрицательный</a:t>
            </a:r>
            <a:endParaRPr lang="en-US" sz="2100" dirty="0"/>
          </a:p>
        </p:txBody>
      </p:sp>
      <p:pic>
        <p:nvPicPr>
          <p:cNvPr id="3" name="Image 0" descr="/Users/mihailkraynev/Documents/Dev/ingosstrah project/08_presentation/build_source/img/Накопленный_результат_по_сценариям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029200" cy="2682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77840" y="114300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EEF1FD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669280" y="121615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-21,1 млн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1645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за 36 месяцев, до налога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178040" y="114300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EEF1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269480" y="121615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+23,5 млн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16459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за 60 месяцев (15,3 после налога)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577840" y="22402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EEF1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669280" y="23134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24-й мес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669280" y="2743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операционная безубыточность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178040" y="22402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EEF1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269480" y="2313432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32,5 млн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7269480" y="27432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пик вложений вместе с MVP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3337560"/>
          <a:ext cx="31089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713232"/>
                <a:gridCol w="713232"/>
                <a:gridCol w="630936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NPV, млн руб.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8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 мес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8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мес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8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Безуб.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8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Пессимистичный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-89,3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-133,1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Базовый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мес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Оптимистичный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247,7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мес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18288" marB="18288" anchor="ctr">
                    <a:lnL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5577840" y="437997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млн руб., до налога, ставка 22%</a:t>
            </a:r>
            <a:endParaRPr lang="en-US" sz="7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Финансовая_модель_ИНГОССЕМЬЯ.xlsx, лист «Сводка»; горизонт 60 месяцев; все значения: расчет модели с учетом льгот ветеранам, входные параметры: допущения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сильнее всего зависит от цены и минут координатора: их и проверяем в MVP</a:t>
            </a:r>
            <a:endParaRPr lang="en-US" sz="2100" dirty="0"/>
          </a:p>
        </p:txBody>
      </p:sp>
      <p:pic>
        <p:nvPicPr>
          <p:cNvPr id="3" name="Image 0" descr="/Users/mihailkraynev/Documents/Dev/ingosstrah project/08_presentation/build_source/img/Чувствительность_NP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023360" cy="2235200"/>
          </a:xfrm>
          <a:prstGeom prst="rect">
            <a:avLst/>
          </a:prstGeom>
        </p:spPr>
      </p:pic>
      <p:pic>
        <p:nvPicPr>
          <p:cNvPr id="4" name="Image 1" descr="/Users/mihailkraynev/Documents/Dev/ingosstrah project/08_presentation/build_source/img/Монте_Карло_NP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3657600" cy="18288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663440" y="2898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70,8% </a:t>
            </a:r>
            <a:pPr indent="0" marL="0">
              <a:buNone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прогонов дают NPV за 60 мес выше нуля, за 36 мес только </a:t>
            </a:r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12,7%</a:t>
            </a:r>
            <a:endParaRPr lang="en-US" sz="950" dirty="0"/>
          </a:p>
        </p:txBody>
      </p:sp>
      <p:sp>
        <p:nvSpPr>
          <p:cNvPr id="6" name="Shape 2"/>
          <p:cNvSpPr/>
          <p:nvPr/>
        </p:nvSpPr>
        <p:spPr>
          <a:xfrm>
            <a:off x="457200" y="3429000"/>
            <a:ext cx="2621280" cy="1143000"/>
          </a:xfrm>
          <a:prstGeom prst="roundRect">
            <a:avLst>
              <a:gd name="adj" fmla="val 6400"/>
            </a:avLst>
          </a:prstGeom>
          <a:solidFill>
            <a:srgbClr val="EEF1FD"/>
          </a:solidFill>
          <a:ln/>
        </p:spPr>
      </p:sp>
      <p:sp>
        <p:nvSpPr>
          <p:cNvPr id="7" name="Shape 3"/>
          <p:cNvSpPr/>
          <p:nvPr/>
        </p:nvSpPr>
        <p:spPr>
          <a:xfrm>
            <a:off x="585216" y="355701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2" descr="/Users/mihailkraynev/Documents/Dev/ingosstrah project/08_presentation/build_source/img/icons/pill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07" y="3641507"/>
            <a:ext cx="215067" cy="21506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060704" y="3557016"/>
            <a:ext cx="188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Медданные (152-ФЗ ст. 10)</a:t>
            </a:r>
            <a:endParaRPr lang="en-US" sz="1000" dirty="0"/>
          </a:p>
        </p:txBody>
      </p:sp>
      <p:sp>
        <p:nvSpPr>
          <p:cNvPr id="10" name="Text 5"/>
          <p:cNvSpPr txBox="1"/>
          <p:nvPr/>
        </p:nvSpPr>
        <p:spPr>
          <a:xfrm>
            <a:off x="585216" y="4032504"/>
            <a:ext cx="2365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Письменное согласие самого родителя: СМС-код как ПЭП или бумага при визите</a:t>
            </a:r>
            <a:endParaRPr lang="en-US" sz="900" dirty="0"/>
          </a:p>
        </p:txBody>
      </p:sp>
      <p:sp>
        <p:nvSpPr>
          <p:cNvPr id="11" name="Shape 6"/>
          <p:cNvSpPr/>
          <p:nvPr/>
        </p:nvSpPr>
        <p:spPr>
          <a:xfrm>
            <a:off x="3261360" y="3429000"/>
            <a:ext cx="2621280" cy="1143000"/>
          </a:xfrm>
          <a:prstGeom prst="roundRect">
            <a:avLst>
              <a:gd name="adj" fmla="val 6400"/>
            </a:avLst>
          </a:prstGeom>
          <a:solidFill>
            <a:srgbClr val="EEF1FD"/>
          </a:solidFill>
          <a:ln/>
        </p:spPr>
      </p:sp>
      <p:sp>
        <p:nvSpPr>
          <p:cNvPr id="12" name="Shape 7"/>
          <p:cNvSpPr/>
          <p:nvPr/>
        </p:nvSpPr>
        <p:spPr>
          <a:xfrm>
            <a:off x="3389376" y="355701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3" descr="/Users/mihailkraynev/Documents/Dev/ingosstrah project/08_presentation/build_source/img/icons/bell_bl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3867" y="3641507"/>
            <a:ext cx="215067" cy="21506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864864" y="3557016"/>
            <a:ext cx="188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Робот пропустит тревогу</a:t>
            </a:r>
            <a:endParaRPr lang="en-US" sz="1000" dirty="0"/>
          </a:p>
        </p:txBody>
      </p:sp>
      <p:sp>
        <p:nvSpPr>
          <p:cNvPr id="15" name="Text 9"/>
          <p:cNvSpPr txBox="1"/>
          <p:nvPr/>
        </p:nvSpPr>
        <p:spPr>
          <a:xfrm>
            <a:off x="3389376" y="4032504"/>
            <a:ext cx="2365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H4: ноль пропусков. Флаг передает семью человеку в тот же день</a:t>
            </a:r>
            <a:endParaRPr lang="en-US" sz="900" dirty="0"/>
          </a:p>
        </p:txBody>
      </p:sp>
      <p:sp>
        <p:nvSpPr>
          <p:cNvPr id="16" name="Shape 10"/>
          <p:cNvSpPr/>
          <p:nvPr/>
        </p:nvSpPr>
        <p:spPr>
          <a:xfrm>
            <a:off x="6065520" y="3429000"/>
            <a:ext cx="2621280" cy="1143000"/>
          </a:xfrm>
          <a:prstGeom prst="roundRect">
            <a:avLst>
              <a:gd name="adj" fmla="val 6400"/>
            </a:avLst>
          </a:prstGeom>
          <a:solidFill>
            <a:srgbClr val="EEF1FD"/>
          </a:solidFill>
          <a:ln/>
        </p:spPr>
      </p:sp>
      <p:sp>
        <p:nvSpPr>
          <p:cNvPr id="17" name="Shape 11"/>
          <p:cNvSpPr/>
          <p:nvPr/>
        </p:nvSpPr>
        <p:spPr>
          <a:xfrm>
            <a:off x="6193536" y="355701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4" descr="/Users/mihailkraynev/Documents/Dev/ingosstrah project/08_presentation/build_source/img/icons/heart-handshake_blu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027" y="3641507"/>
            <a:ext cx="215067" cy="21506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669024" y="3557016"/>
            <a:ext cx="188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Родитель против «контроля»</a:t>
            </a:r>
            <a:endParaRPr lang="en-US" sz="1000" dirty="0"/>
          </a:p>
        </p:txBody>
      </p:sp>
      <p:sp>
        <p:nvSpPr>
          <p:cNvPr id="20" name="Text 13"/>
          <p:cNvSpPr txBox="1"/>
          <p:nvPr/>
        </p:nvSpPr>
        <p:spPr>
          <a:xfrm>
            <a:off x="6193536" y="4032504"/>
            <a:ext cx="23652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Помощь, а не надзор: родитель решает, что видит ребенок (H3)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Финансовая_модель_ИНГОССЕМЬЯ.xlsx, листы «Чувствительность» и «Монте-Карло»: 5 000 прогонов, параметры ±25%; P95 пиковой потребности 63,3 млн руб.; риски: пояснительная записка, раздел 12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12 недель и 4,87 млн руб. проверяем сервис на 150 семьях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F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4,87 млн руб.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423160" y="1097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 лимита 5 млн,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 126 036 руб.</a:t>
            </a:r>
            <a:endParaRPr lang="en-US" sz="9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508760"/>
          <a:ext cx="38404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891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млн руб. по статьям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343400" y="1143000"/>
            <a:ext cx="1374648" cy="594360"/>
          </a:xfrm>
          <a:prstGeom prst="roundRect">
            <a:avLst>
              <a:gd name="adj" fmla="val 12308"/>
            </a:avLst>
          </a:prstGeom>
          <a:solidFill>
            <a:srgbClr val="0A2A8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434840" y="1179576"/>
            <a:ext cx="1191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 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1408176"/>
            <a:ext cx="119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343400" y="1874520"/>
            <a:ext cx="1374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Юрист: схема и согласия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Чат-бот в MAX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координатора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с фондом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827776" y="1143000"/>
            <a:ext cx="1374648" cy="594360"/>
          </a:xfrm>
          <a:prstGeom prst="roundRect">
            <a:avLst>
              <a:gd name="adj" fmla="val 12308"/>
            </a:avLst>
          </a:prstGeom>
          <a:solidFill>
            <a:srgbClr val="1E3FD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19216" y="1179576"/>
            <a:ext cx="1191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 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919216" y="1408176"/>
            <a:ext cx="119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семей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827776" y="1874520"/>
            <a:ext cx="1374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Сотрудники и клиенты ДМС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Лендинг с предоплатой (H2)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Хронометраж триажа (H4)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312152" y="1143000"/>
            <a:ext cx="1374648" cy="594360"/>
          </a:xfrm>
          <a:prstGeom prst="roundRect">
            <a:avLst>
              <a:gd name="adj" fmla="val 12308"/>
            </a:avLst>
          </a:prstGeom>
          <a:solidFill>
            <a:srgbClr val="1E3FD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403592" y="1179576"/>
            <a:ext cx="1191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Месяц 3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7403592" y="1408176"/>
            <a:ext cx="1191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семей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7312152" y="1874520"/>
            <a:ext cx="13746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 цены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семей ветеранов (H6)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B2B2C-пилоты (H5)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343400" y="4023360"/>
            <a:ext cx="4343400" cy="548640"/>
          </a:xfrm>
          <a:prstGeom prst="roundRect">
            <a:avLst>
              <a:gd name="adj" fmla="val 13333"/>
            </a:avLst>
          </a:prstGeom>
          <a:solidFill>
            <a:srgbClr val="B8F02A"/>
          </a:solidFill>
          <a:ln/>
        </p:spPr>
      </p:sp>
      <p:sp>
        <p:nvSpPr>
          <p:cNvPr id="20" name="Shape 17"/>
          <p:cNvSpPr/>
          <p:nvPr/>
        </p:nvSpPr>
        <p:spPr>
          <a:xfrm>
            <a:off x="4453128" y="4114800"/>
            <a:ext cx="365760" cy="365760"/>
          </a:xfrm>
          <a:prstGeom prst="ellipse">
            <a:avLst/>
          </a:prstGeom>
          <a:solidFill>
            <a:srgbClr val="0A2A8A"/>
          </a:solidFill>
          <a:ln/>
        </p:spPr>
      </p:sp>
      <p:pic>
        <p:nvPicPr>
          <p:cNvPr id="21" name="Image 0" descr="/Users/mihailkraynev/Documents/Dev/ingosstrah project/08_presentation/build_source/img/icons/calendar-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3595" y="4195267"/>
            <a:ext cx="204826" cy="20482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937760" y="40233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12: решение по порогам H2-H6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Финансовая_модель_ИНГОССЕМЬЯ.xlsx, лист «Бюджет MVP»; дорожная карта 07_docs/diagrams/Дорожная_карта_MVP; выручка за MVP 316 277 руб. в бюджет не засчитана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Шесть гипотез с порогами: на неделе 12 решаем, растить проект или остановить</a:t>
            </a:r>
            <a:endParaRPr lang="en-US" sz="2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514600"/>
                <a:gridCol w="1920240"/>
                <a:gridCol w="33832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Гипотеза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Как проверяем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Порог успеха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F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Проблема частая и дорогая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Интервью 15+, анкета 150+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60%+ тратят 3+ часа в неделю и имели упущенный эпизод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F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Платят за организацию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Лендинг с предоплатой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Конверсия в предоплату 3%+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F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Родитель принимает звонки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MVP, 50-150 семей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70%+ согласий, 80%+ звонков с ответом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F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Триаж держит нагрузку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Хронометраж в MVP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 49 мин на семью (около 128 семей), оценка 4,5+, ноль пропущенных тревог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BD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F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Семьи остаются и покупают еще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Когорты MVP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Продление 75%+, доп. услуги у 10%+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F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Семьи ветеранов приходят через фонд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Пилот с фондом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B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10+ семей в месяц, продление 80%+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27432" marB="27432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3657600"/>
            <a:ext cx="2621280" cy="914400"/>
          </a:xfrm>
          <a:prstGeom prst="roundRect">
            <a:avLst>
              <a:gd name="adj" fmla="val 8000"/>
            </a:avLst>
          </a:prstGeom>
          <a:solidFill>
            <a:srgbClr val="1E3FD8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3730752"/>
            <a:ext cx="234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пороги H2-H6 пройдены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4041648"/>
            <a:ext cx="234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Просим около 27,7 млн руб. на рост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261360" y="3657600"/>
            <a:ext cx="2621280" cy="914400"/>
          </a:xfrm>
          <a:prstGeom prst="roundRect">
            <a:avLst>
              <a:gd name="adj" fmla="val 8000"/>
            </a:avLst>
          </a:prstGeom>
          <a:solidFill>
            <a:srgbClr val="8FA3F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398520" y="3730752"/>
            <a:ext cx="234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Пройдена часть порогов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398520" y="4041648"/>
            <a:ext cx="234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Меняем цену, сценарий или сегмент, меряем снова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065520" y="3657600"/>
            <a:ext cx="2621280" cy="914400"/>
          </a:xfrm>
          <a:prstGeom prst="roundRect">
            <a:avLst>
              <a:gd name="adj" fmla="val 8000"/>
            </a:avLst>
          </a:prstGeom>
          <a:solidFill>
            <a:srgbClr val="0A2A8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202680" y="3730752"/>
            <a:ext cx="234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прошли H3 или H4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202680" y="4041648"/>
            <a:ext cx="2346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Останавливаемся. Потеря не больше 4,87 млн руб.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Источники: пояснительная записка, раздел 11; правило решения: допущение команды; H4 главная гипотеза, на ней держится юнит-экономика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 жюри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Доказательств хватает, чтобы вложить 4,87 млн руб. в проверку. Для масштабирования их пока нет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84048" cy="384048"/>
          </a:xfrm>
          <a:prstGeom prst="ellipse">
            <a:avLst/>
          </a:prstGeom>
          <a:solidFill>
            <a:srgbClr val="1E3FD8"/>
          </a:solidFill>
          <a:ln/>
        </p:spPr>
      </p:sp>
      <p:pic>
        <p:nvPicPr>
          <p:cNvPr id="5" name="Image 0" descr="/Users/mihailkraynev/Documents/Dev/ingosstrah project/08_presentation/build_source/img/icons/badge-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691" y="1593251"/>
            <a:ext cx="215067" cy="215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15087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F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говорит за проверку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11680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 нуждающихся без госухода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 «сам» и сиделкой нет продукта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Ингосстраха есть почти все блоки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Особые условия для ветеранов СВО и ветеранов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Потери ограничены: 4,87 млн руб.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508760"/>
            <a:ext cx="384048" cy="384048"/>
          </a:xfrm>
          <a:prstGeom prst="ellipse">
            <a:avLst/>
          </a:prstGeom>
          <a:solidFill>
            <a:srgbClr val="1E3FD8"/>
          </a:solidFill>
          <a:ln/>
        </p:spPr>
      </p:sp>
      <p:pic>
        <p:nvPicPr>
          <p:cNvPr id="9" name="Image 1" descr="/Users/mihailkraynev/Documents/Dev/ingosstrah project/08_presentation/build_source/img/icons/circle-ale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371" y="1593251"/>
            <a:ext cx="215067" cy="21506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57800" y="15087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A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пока не доказано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4754880" y="2011680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проверяем интервью 23-25.10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доли рынка пока допущения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ни одного платежа за 2 490 руб.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Нагрузка 128 семей пока расчетная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NPV за 36 мес -21,1 млн руб.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3794760"/>
            <a:ext cx="8229600" cy="658368"/>
          </a:xfrm>
          <a:prstGeom prst="roundRect">
            <a:avLst>
              <a:gd name="adj" fmla="val 11111"/>
            </a:avLst>
          </a:prstGeom>
          <a:solidFill>
            <a:srgbClr val="B8F02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0080" y="3794760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Рекомендация: </a:t>
            </a:r>
            <a:pPr indent="0" marL="0">
              <a:buNone/>
            </a:pPr>
            <a:r>
              <a:rPr lang="en-US" sz="12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профинансировать MVP и решать о росте на неделе 12 по порогам H2-H6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8275320" y="477316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2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Приложение: источники, проверены 22.10.2026</a:t>
            </a:r>
            <a:endParaRPr lang="en-US" sz="2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Демоскоп по данным Росстата, 65+ в РФ: demoscope.ru/weekly/2025/01079/barom01.php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 ВЦИОМ, «Куда уходит старость», 2026: wciom.ru/analytical-reviews/analiticheskii-obzor/kuda-ukhodit-starost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ОСН, А. Мурашко о хронических заболеваниях: osnmedia.ru/obshhestvo/murashko-54-pozhilyh-rossiyan-imeyut-hronicheskie-infektsii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 АСИ, Минтруд о долговременном уходе: asi.org.ru/news/2026/07/21/v-rossii-dolgovremennym-uhodom-ohvacheno-11-pozhilyh-i-lyudej-s-invalidnostyu-mintrud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 ВШЭ, обследование «Человек, семья и общество»: jsps.hse.ru/article/view/17807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 Peterburg2, цены на уход, 14.08.2026: peterburg2.ru/news/skolko-stoit-uhod-za-pozhilymi-roditelyami-v-rossii-realnye-summy-2026-goda-248561.html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S7 360.ru, сиделка и пансионат: 360.ru/news/obschestvo/psiholog-kondrashina-sravnila-rashody-na-sidelku-i-pansionat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 Коммерсантъ, полисы долговременного ухода, 02.09.2026: kommersant.ru/doc/8922548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S9 Ингосстрах, ДМС и медицинский контакт-центр: ingos.ru/health/dms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 Эксперт РА, рынок страхования 2025: raexpert.ru/researches/insurance/ins_2025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S11 Эксперт РА, рейтинг ruAAA: raexpert.ru/releases/2025/dec02b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709160" y="914400"/>
            <a:ext cx="3977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S12 МедРокет и Ингосстрах: infullbroker.ru/blog/tsifrovoye-dms-ingosstrakh-i-medroket-sozdali-edinuyu-sistemu-integratsii-klinik-i-strakhovschikov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S13 Мини-приложение Ингосстраха в MAX: infullbroker.ru/blog/ingosstrah-zapustil-mini-prilozhenie-v-nacionalnom-messendzhere-max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S14 RuStore, IngoMobile: rustore.ru/catalog/app/ru.ingos.ingomobile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S15 Habr, IngoMobile недоступен в сторах: habr.com/ru/news/878342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S17 Коммерсантъ, обзор ЦБ за 2025 год: kommersant.ru/doc/8438895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S23 Zoon, вызов медсестры на дом: zoon.ru/msk/medical/type/vyzov_medsestry_na_dom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S27 Страница конкурса IngoSight 2026: changellenge.com/tpage/ingosight-konkursnyy-etap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S28 Гарант, 83-ФЗ от 21.04.2025 о статусе ветерана боевых действий: garant.ru/news/1810720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S29 ВЗГЛЯД, фонд «Защитники Отечества», 01.06.2026: vz.ru/news/2026/6/1/1423828.html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S30 ТВ Звезда, А. Цивилева о социальных координаторах: tvzvezda.ru/news/2026841835-XRS6r.html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Законы (сверка в 02_research/Проверка_правовых_норм.docx): 41-ФЗ от 01.04.2025; 152-ФЗ ст. 9, 10; закон 4015-1 ст. 6; 425-ФЗ от 28.11.2025; 5-ФЗ «О ветеранах»</a:t>
            </a:r>
            <a:endParaRPr lang="en-US" sz="8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15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Внутренние файлы: Финансовая_модель_ИНГОССЕМЬЯ.xlsx; Материалы_исследования_открытые_данные.docx; Льготы_ветеранов_СВО_и_ветеранов.docx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75488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5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Метки в презентации: факт взят из источника и совпал при проверке; расчет получен командой из фактов; допущение проверяется в MVP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5A6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gossemya">
  <a:themeElements>
    <a:clrScheme name="Ingossemya">
      <a:dk1>
        <a:srgbClr val="151B33"/>
      </a:dk1>
      <a:lt1>
        <a:srgbClr val="FFFFFF"/>
      </a:lt1>
      <a:dk2>
        <a:srgbClr val="0A2A8A"/>
      </a:dk2>
      <a:lt2>
        <a:srgbClr val="EEF1FD"/>
      </a:lt2>
      <a:accent1>
        <a:srgbClr val="1E3FD8"/>
      </a:accent1>
      <a:accent2>
        <a:srgbClr val="0A2A8A"/>
      </a:accent2>
      <a:accent3>
        <a:srgbClr val="8FA3F0"/>
      </a:accent3>
      <a:accent4>
        <a:srgbClr val="B8F02A"/>
      </a:accent4>
      <a:accent5>
        <a:srgbClr val="5A6280"/>
      </a:accent5>
      <a:accent6>
        <a:srgbClr val="C0392B"/>
      </a:accent6>
      <a:hlink>
        <a:srgbClr val="1E3FD8"/>
      </a:hlink>
      <a:folHlink>
        <a:srgbClr val="0A2A8A"/>
      </a:folHlink>
    </a:clrScheme>
    <a:fontScheme name="Ingossemy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ИНГОССЕМЬЯ</dc:title>
  <dc:subject>IngoSight 2026, отборочный этап</dc:subject>
  <dc:creator>Команда проекта ИНГОССЕМЬЯ</dc:creator>
  <cp:lastModifiedBy>Команда проекта ИНГОССЕМЬЯ</cp:lastModifiedBy>
  <cp:revision>1</cp:revision>
  <dcterms:created xsi:type="dcterms:W3CDTF">2026-10-22T17:28:42Z</dcterms:created>
  <dcterms:modified xsi:type="dcterms:W3CDTF">2026-10-22T17:28:42Z</dcterms:modified>
</cp:coreProperties>
</file>